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 type="custom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
<Relationship Id="rId15" Type="http://schemas.openxmlformats.org/officeDocument/2006/relationships/slide" Target="slides/slide13.xml"/>
<Relationship Id="rId16" Type="http://schemas.openxmlformats.org/officeDocument/2006/relationships/slide" Target="slides/slide14.xml"/>
<Relationship Id="rId17" Type="http://schemas.openxmlformats.org/officeDocument/2006/relationships/slide" Target="slides/slide15.xml"/>
<Relationship Id="rId18" Type="http://schemas.openxmlformats.org/officeDocument/2006/relationships/slide" Target="slides/slide16.xml"/>
<Relationship Id="rId19" Type="http://schemas.openxmlformats.org/officeDocument/2006/relationships/slide" Target="slides/slide17.xml"/>
<Relationship Id="rId20" Type="http://schemas.openxmlformats.org/officeDocument/2006/relationships/slide" Target="slides/slide18.xml"/>
<Relationship Id="rId21" Type="http://schemas.openxmlformats.org/officeDocument/2006/relationships/slide" Target="slides/slide19.xml"/>
<Relationship Id="rId22" Type="http://schemas.openxmlformats.org/officeDocument/2006/relationships/slide" Target="slides/slide20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800" b="1">
          <a:solidFill>
            <a:srgbClr val="FFFFFF"/>
          </a:solidFill>
          <a:latin typeface="Sora"/>
        </a:defRPr>
      </a:lvl1pPr>
    </p:titleStyle>
    <p:bodyStyle>
      <a:lvl1pPr>
        <a:defRPr sz="1400">
          <a:solidFill>
            <a:srgbClr val="FFFFFF"/>
          </a:solidFill>
          <a:latin typeface="Sora"/>
        </a:defRPr>
      </a:lvl1pPr>
    </p:bodyStyle>
    <p:otherStyle>
      <a:lvl1pPr>
        <a:defRPr>
          <a:solidFill>
            <a:srgbClr val="FFFFFF"/>
          </a:solidFill>
          <a:latin typeface="Sora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r3"/>
          <p:cNvSpPr>
            <a:spLocks noGrp="1"/>
          </p:cNvSpPr>
          <p:nvPr/>
        </p:nvSpPr>
        <p:spPr>
          <a:xfrm>
            <a:off x="0" y="5989320"/>
            <a:ext cx="12192000" cy="86868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rr4"/>
          <p:cNvSpPr>
            <a:spLocks noGrp="1"/>
          </p:cNvSpPr>
          <p:nvPr/>
        </p:nvSpPr>
        <p:spPr>
          <a:xfrm>
            <a:off x="502920" y="685800"/>
            <a:ext cx="1417320" cy="1417320"/>
          </a:xfrm>
          <a:prstGeom prst="roundRect">
            <a:avLst>
              <a:gd name="adj" fmla="val 13000"/>
            </a:avLst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" name="r5"/>
          <p:cNvSpPr>
            <a:spLocks noGrp="1"/>
          </p:cNvSpPr>
          <p:nvPr/>
        </p:nvSpPr>
        <p:spPr>
          <a:xfrm>
            <a:off x="502920" y="685800"/>
            <a:ext cx="1417320" cy="36576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t6"/>
          <p:cNvSpPr txBox="1">
            <a:spLocks noGrp="1"/>
          </p:cNvSpPr>
          <p:nvPr/>
        </p:nvSpPr>
        <p:spPr>
          <a:xfrm>
            <a:off x="502920" y="685800"/>
            <a:ext cx="141732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7100" b="1" i="0" dirty="0">
                <a:solidFill>
                  <a:srgbClr val="9CD246"/>
                </a:solidFill>
                <a:latin typeface="Sora"/>
              </a:rPr>
              <a:t>%</a:t>
            </a:r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502920" y="2377440"/>
            <a:ext cx="670560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8000" b="1" i="0" dirty="0">
                <a:solidFill>
                  <a:srgbClr val="FFFFFF"/>
                </a:solidFill>
                <a:latin typeface="Sora"/>
              </a:rPr>
              <a:t>Split</a:t>
            </a:r>
            <a:r>
              <a:rPr lang="en-US" sz="8000" b="1" i="0" dirty="0">
                <a:solidFill>
                  <a:srgbClr val="9CD246"/>
                </a:solidFill>
                <a:latin typeface="Sora"/>
              </a:rPr>
              <a:t>Bo</a:t>
            </a:r>
            <a:endParaRPr lang="en-US" dirty="0"/>
          </a:p>
        </p:txBody>
      </p:sp>
      <p:sp>
        <p:nvSpPr>
          <p:cNvPr id="8" name="t8"/>
          <p:cNvSpPr txBox="1">
            <a:spLocks noGrp="1"/>
          </p:cNvSpPr>
          <p:nvPr/>
        </p:nvSpPr>
        <p:spPr>
          <a:xfrm>
            <a:off x="502920" y="4096512"/>
            <a:ext cx="633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900" b="0" i="1" dirty="0">
                <a:solidFill>
                  <a:srgbClr val="999999"/>
                </a:solidFill>
                <a:latin typeface="Sora"/>
              </a:rPr>
              <a:t>Split bills. Keep friends.</a:t>
            </a:r>
            <a:endParaRPr lang="en-US" dirty="0"/>
          </a:p>
        </p:txBody>
      </p:sp>
      <p:sp>
        <p:nvSpPr>
          <p:cNvPr id="9" name="r9"/>
          <p:cNvSpPr>
            <a:spLocks noGrp="1"/>
          </p:cNvSpPr>
          <p:nvPr/>
        </p:nvSpPr>
        <p:spPr>
          <a:xfrm>
            <a:off x="502920" y="4736592"/>
            <a:ext cx="1005840" cy="2926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0" name="t10"/>
          <p:cNvSpPr txBox="1">
            <a:spLocks noGrp="1"/>
          </p:cNvSpPr>
          <p:nvPr/>
        </p:nvSpPr>
        <p:spPr>
          <a:xfrm>
            <a:off x="7559040" y="914400"/>
            <a:ext cx="390144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666666"/>
                </a:solidFill>
                <a:latin typeface="Sora"/>
              </a:rPr>
              <a:t>Brand Guidelines</a:t>
            </a:r>
            <a:endParaRPr lang="en-US" dirty="0"/>
          </a:p>
          <a:p>
            <a:pPr algn="l">
              <a:spcBef>
                <a:spcPts val="140"/>
              </a:spcBef>
            </a:pPr>
            <a:r>
              <a:rPr lang="en-US" sz="1100" b="0" i="0" dirty="0">
                <a:solidFill>
                  <a:srgbClr val="666666"/>
                </a:solidFill>
                <a:latin typeface="Sora"/>
              </a:rPr>
              <a:t>v1.0  ·  September 2026</a:t>
            </a:r>
            <a:endParaRPr lang="en-US" dirty="0"/>
          </a:p>
        </p:txBody>
      </p:sp>
      <p:sp>
        <p:nvSpPr>
          <p:cNvPr id="11" name="t11"/>
          <p:cNvSpPr txBox="1">
            <a:spLocks noGrp="1"/>
          </p:cNvSpPr>
          <p:nvPr/>
        </p:nvSpPr>
        <p:spPr>
          <a:xfrm>
            <a:off x="7559040" y="2743200"/>
            <a:ext cx="402336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100" b="1" i="0" dirty="0">
                <a:solidFill>
                  <a:srgbClr val="222222"/>
                </a:solidFill>
                <a:latin typeface="Sora"/>
              </a:rPr>
              <a:t>SIMPLE</a:t>
            </a:r>
            <a:endParaRPr lang="en-US" dirty="0"/>
          </a:p>
          <a:p>
            <a:pPr algn="l">
              <a:spcBef>
                <a:spcPts val="120"/>
              </a:spcBef>
            </a:pPr>
            <a:r>
              <a:rPr lang="en-US" sz="1100" b="1" i="0" dirty="0">
                <a:solidFill>
                  <a:srgbClr val="222222"/>
                </a:solidFill>
                <a:latin typeface="Sora"/>
              </a:rPr>
              <a:t>FAIR</a:t>
            </a:r>
            <a:endParaRPr lang="en-US" dirty="0"/>
          </a:p>
          <a:p>
            <a:pPr algn="l">
              <a:spcBef>
                <a:spcPts val="120"/>
              </a:spcBef>
            </a:pPr>
            <a:r>
              <a:rPr lang="en-US" sz="1100" b="1" i="0" dirty="0">
                <a:solidFill>
                  <a:srgbClr val="222222"/>
                </a:solidFill>
                <a:latin typeface="Sora"/>
              </a:rPr>
              <a:t>TOGETHER</a:t>
            </a:r>
            <a:endParaRPr lang="en-US" dirty="0"/>
          </a:p>
        </p:txBody>
      </p:sp>
      <p:sp>
        <p:nvSpPr>
          <p:cNvPr id="12" name="t12"/>
          <p:cNvSpPr txBox="1">
            <a:spLocks noGrp="1"/>
          </p:cNvSpPr>
          <p:nvPr/>
        </p:nvSpPr>
        <p:spPr>
          <a:xfrm>
            <a:off x="502920" y="6108192"/>
            <a:ext cx="609600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1" i="0" dirty="0">
                <a:solidFill>
                  <a:srgbClr val="000000"/>
                </a:solidFill>
                <a:latin typeface="Sora"/>
              </a:rPr>
              <a:t>splitbo.in  ·  splitbo.app  ·  splitbo.com</a:t>
            </a:r>
            <a:endParaRPr lang="en-US" dirty="0"/>
          </a:p>
        </p:txBody>
      </p:sp>
      <p:sp>
        <p:nvSpPr>
          <p:cNvPr id="13" name="t13"/>
          <p:cNvSpPr txBox="1">
            <a:spLocks noGrp="1"/>
          </p:cNvSpPr>
          <p:nvPr/>
        </p:nvSpPr>
        <p:spPr>
          <a:xfrm>
            <a:off x="9631680" y="6108192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1100" b="1" i="0" dirty="0">
                <a:solidFill>
                  <a:srgbClr val="000000"/>
                </a:solidFill>
                <a:latin typeface="Sora"/>
              </a:rPr>
              <a:t>CONFIDENTIAL</a:t>
            </a:r>
            <a:endParaRPr lang="en-US" dirty="0"/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43891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t3"/>
          <p:cNvSpPr txBox="1">
            <a:spLocks noGrp="1"/>
          </p:cNvSpPr>
          <p:nvPr/>
        </p:nvSpPr>
        <p:spPr>
          <a:xfrm>
            <a:off x="502920" y="50292"/>
            <a:ext cx="1036320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Sora"/>
              </a:rPr>
              <a:t>Table of Contents</a:t>
            </a:r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10911840" y="50292"/>
            <a:ext cx="109728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1300" b="1" i="0" dirty="0">
                <a:solidFill>
                  <a:srgbClr val="9CD246"/>
                </a:solidFill>
                <a:latin typeface="Sora"/>
              </a:rPr>
              <a:t>2</a:t>
            </a:r>
            <a:endParaRPr lang="en-US" dirty="0"/>
          </a:p>
        </p:txBody>
      </p:sp>
      <p:sp>
        <p:nvSpPr>
          <p:cNvPr id="5" name="r5"/>
          <p:cNvSpPr>
            <a:spLocks noGrp="1"/>
          </p:cNvSpPr>
          <p:nvPr/>
        </p:nvSpPr>
        <p:spPr>
          <a:xfrm>
            <a:off x="502920" y="822960"/>
            <a:ext cx="11186160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t6"/>
          <p:cNvSpPr txBox="1">
            <a:spLocks noGrp="1"/>
          </p:cNvSpPr>
          <p:nvPr/>
        </p:nvSpPr>
        <p:spPr>
          <a:xfrm>
            <a:off x="502920" y="65105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 v1.0</a:t>
            </a:r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9906000" y="65105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splitbo.in  ·  splitbo.app</a:t>
            </a:r>
            <a:endParaRPr lang="en-US" dirty="0"/>
          </a:p>
        </p:txBody>
      </p:sp>
      <p:sp>
        <p:nvSpPr>
          <p:cNvPr id="8" name="t8"/>
          <p:cNvSpPr txBox="1">
            <a:spLocks noGrp="1"/>
          </p:cNvSpPr>
          <p:nvPr/>
        </p:nvSpPr>
        <p:spPr>
          <a:xfrm>
            <a:off x="502920" y="969264"/>
            <a:ext cx="512064" cy="58521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500" b="1" i="0" dirty="0">
                <a:solidFill>
                  <a:srgbClr val="9CD246"/>
                </a:solidFill>
                <a:latin typeface="Sora"/>
              </a:rPr>
              <a:t>01</a:t>
            </a:r>
            <a:endParaRPr lang="en-US" dirty="0"/>
          </a:p>
        </p:txBody>
      </p:sp>
      <p:sp>
        <p:nvSpPr>
          <p:cNvPr id="9" name="t9"/>
          <p:cNvSpPr txBox="1">
            <a:spLocks noGrp="1"/>
          </p:cNvSpPr>
          <p:nvPr/>
        </p:nvSpPr>
        <p:spPr>
          <a:xfrm>
            <a:off x="1069848" y="969264"/>
            <a:ext cx="472440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700" b="0" i="0" dirty="0">
                <a:solidFill>
                  <a:srgbClr val="FFFFFF"/>
                </a:solidFill>
                <a:latin typeface="Sora"/>
              </a:rPr>
              <a:t>Brand Essence &amp; Voice</a:t>
            </a:r>
            <a:endParaRPr lang="en-US" dirty="0"/>
          </a:p>
        </p:txBody>
      </p:sp>
      <p:sp>
        <p:nvSpPr>
          <p:cNvPr id="10" name="r10"/>
          <p:cNvSpPr>
            <a:spLocks noGrp="1"/>
          </p:cNvSpPr>
          <p:nvPr/>
        </p:nvSpPr>
        <p:spPr>
          <a:xfrm>
            <a:off x="502920" y="1549908"/>
            <a:ext cx="5364480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1" name="t11"/>
          <p:cNvSpPr txBox="1">
            <a:spLocks noGrp="1"/>
          </p:cNvSpPr>
          <p:nvPr/>
        </p:nvSpPr>
        <p:spPr>
          <a:xfrm>
            <a:off x="502920" y="1554480"/>
            <a:ext cx="512064" cy="58521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500" b="1" i="0" dirty="0">
                <a:solidFill>
                  <a:srgbClr val="9CD246"/>
                </a:solidFill>
                <a:latin typeface="Sora"/>
              </a:rPr>
              <a:t>02</a:t>
            </a:r>
            <a:endParaRPr lang="en-US" dirty="0"/>
          </a:p>
        </p:txBody>
      </p:sp>
      <p:sp>
        <p:nvSpPr>
          <p:cNvPr id="12" name="t12"/>
          <p:cNvSpPr txBox="1">
            <a:spLocks noGrp="1"/>
          </p:cNvSpPr>
          <p:nvPr/>
        </p:nvSpPr>
        <p:spPr>
          <a:xfrm>
            <a:off x="1069848" y="1554480"/>
            <a:ext cx="472440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700" b="0" i="0" dirty="0">
                <a:solidFill>
                  <a:srgbClr val="FFFFFF"/>
                </a:solidFill>
                <a:latin typeface="Sora"/>
              </a:rPr>
              <a:t>Color System</a:t>
            </a:r>
            <a:endParaRPr lang="en-US" dirty="0"/>
          </a:p>
        </p:txBody>
      </p:sp>
      <p:sp>
        <p:nvSpPr>
          <p:cNvPr id="13" name="r13"/>
          <p:cNvSpPr>
            <a:spLocks noGrp="1"/>
          </p:cNvSpPr>
          <p:nvPr/>
        </p:nvSpPr>
        <p:spPr>
          <a:xfrm>
            <a:off x="502920" y="2135124"/>
            <a:ext cx="5364480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4" name="t14"/>
          <p:cNvSpPr txBox="1">
            <a:spLocks noGrp="1"/>
          </p:cNvSpPr>
          <p:nvPr/>
        </p:nvSpPr>
        <p:spPr>
          <a:xfrm>
            <a:off x="502920" y="2139696"/>
            <a:ext cx="512064" cy="58521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500" b="1" i="0" dirty="0">
                <a:solidFill>
                  <a:srgbClr val="9CD246"/>
                </a:solidFill>
                <a:latin typeface="Sora"/>
              </a:rPr>
              <a:t>03</a:t>
            </a:r>
            <a:endParaRPr lang="en-US" dirty="0"/>
          </a:p>
        </p:txBody>
      </p:sp>
      <p:sp>
        <p:nvSpPr>
          <p:cNvPr id="15" name="t15"/>
          <p:cNvSpPr txBox="1">
            <a:spLocks noGrp="1"/>
          </p:cNvSpPr>
          <p:nvPr/>
        </p:nvSpPr>
        <p:spPr>
          <a:xfrm>
            <a:off x="1069848" y="2139696"/>
            <a:ext cx="472440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700" b="0" i="0" dirty="0">
                <a:solidFill>
                  <a:srgbClr val="FFFFFF"/>
                </a:solidFill>
                <a:latin typeface="Sora"/>
              </a:rPr>
              <a:t>Typography</a:t>
            </a:r>
            <a:endParaRPr lang="en-US" dirty="0"/>
          </a:p>
        </p:txBody>
      </p:sp>
      <p:sp>
        <p:nvSpPr>
          <p:cNvPr id="16" name="r16"/>
          <p:cNvSpPr>
            <a:spLocks noGrp="1"/>
          </p:cNvSpPr>
          <p:nvPr/>
        </p:nvSpPr>
        <p:spPr>
          <a:xfrm>
            <a:off x="502920" y="2720340"/>
            <a:ext cx="5364480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7" name="t17"/>
          <p:cNvSpPr txBox="1">
            <a:spLocks noGrp="1"/>
          </p:cNvSpPr>
          <p:nvPr/>
        </p:nvSpPr>
        <p:spPr>
          <a:xfrm>
            <a:off x="502920" y="2724912"/>
            <a:ext cx="512064" cy="58521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500" b="1" i="0" dirty="0">
                <a:solidFill>
                  <a:srgbClr val="9CD246"/>
                </a:solidFill>
                <a:latin typeface="Sora"/>
              </a:rPr>
              <a:t>04</a:t>
            </a:r>
            <a:endParaRPr lang="en-US" dirty="0"/>
          </a:p>
        </p:txBody>
      </p:sp>
      <p:sp>
        <p:nvSpPr>
          <p:cNvPr id="18" name="t18"/>
          <p:cNvSpPr txBox="1">
            <a:spLocks noGrp="1"/>
          </p:cNvSpPr>
          <p:nvPr/>
        </p:nvSpPr>
        <p:spPr>
          <a:xfrm>
            <a:off x="1069848" y="2724912"/>
            <a:ext cx="472440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700" b="0" i="0" dirty="0">
                <a:solidFill>
                  <a:srgbClr val="FFFFFF"/>
                </a:solidFill>
                <a:latin typeface="Sora"/>
              </a:rPr>
              <a:t>Logo &amp; Wordmark</a:t>
            </a:r>
            <a:endParaRPr lang="en-US" dirty="0"/>
          </a:p>
        </p:txBody>
      </p:sp>
      <p:sp>
        <p:nvSpPr>
          <p:cNvPr id="19" name="t19"/>
          <p:cNvSpPr txBox="1">
            <a:spLocks noGrp="1"/>
          </p:cNvSpPr>
          <p:nvPr/>
        </p:nvSpPr>
        <p:spPr>
          <a:xfrm>
            <a:off x="6096000" y="969264"/>
            <a:ext cx="512064" cy="58521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500" b="1" i="0" dirty="0">
                <a:solidFill>
                  <a:srgbClr val="9CD246"/>
                </a:solidFill>
                <a:latin typeface="Sora"/>
              </a:rPr>
              <a:t>05</a:t>
            </a:r>
            <a:endParaRPr lang="en-US" dirty="0"/>
          </a:p>
        </p:txBody>
      </p:sp>
      <p:sp>
        <p:nvSpPr>
          <p:cNvPr id="20" name="t20"/>
          <p:cNvSpPr txBox="1">
            <a:spLocks noGrp="1"/>
          </p:cNvSpPr>
          <p:nvPr/>
        </p:nvSpPr>
        <p:spPr>
          <a:xfrm>
            <a:off x="6662928" y="969264"/>
            <a:ext cx="472440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700" b="0" i="0" dirty="0">
                <a:solidFill>
                  <a:srgbClr val="FFFFFF"/>
                </a:solidFill>
                <a:latin typeface="Sora"/>
              </a:rPr>
              <a:t>Iconography</a:t>
            </a:r>
            <a:endParaRPr lang="en-US" dirty="0"/>
          </a:p>
        </p:txBody>
      </p:sp>
      <p:sp>
        <p:nvSpPr>
          <p:cNvPr id="21" name="r21"/>
          <p:cNvSpPr>
            <a:spLocks noGrp="1"/>
          </p:cNvSpPr>
          <p:nvPr/>
        </p:nvSpPr>
        <p:spPr>
          <a:xfrm>
            <a:off x="6096000" y="1549908"/>
            <a:ext cx="5364480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2" name="t22"/>
          <p:cNvSpPr txBox="1">
            <a:spLocks noGrp="1"/>
          </p:cNvSpPr>
          <p:nvPr/>
        </p:nvSpPr>
        <p:spPr>
          <a:xfrm>
            <a:off x="6096000" y="1554480"/>
            <a:ext cx="512064" cy="58521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500" b="1" i="0" dirty="0">
                <a:solidFill>
                  <a:srgbClr val="9CD246"/>
                </a:solidFill>
                <a:latin typeface="Sora"/>
              </a:rPr>
              <a:t>06</a:t>
            </a:r>
            <a:endParaRPr lang="en-US" dirty="0"/>
          </a:p>
        </p:txBody>
      </p:sp>
      <p:sp>
        <p:nvSpPr>
          <p:cNvPr id="23" name="t23"/>
          <p:cNvSpPr txBox="1">
            <a:spLocks noGrp="1"/>
          </p:cNvSpPr>
          <p:nvPr/>
        </p:nvSpPr>
        <p:spPr>
          <a:xfrm>
            <a:off x="6662928" y="1554480"/>
            <a:ext cx="472440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700" b="0" i="0" dirty="0">
                <a:solidFill>
                  <a:srgbClr val="FFFFFF"/>
                </a:solidFill>
                <a:latin typeface="Sora"/>
              </a:rPr>
              <a:t>Components</a:t>
            </a:r>
            <a:endParaRPr lang="en-US" dirty="0"/>
          </a:p>
        </p:txBody>
      </p:sp>
      <p:sp>
        <p:nvSpPr>
          <p:cNvPr id="24" name="r24"/>
          <p:cNvSpPr>
            <a:spLocks noGrp="1"/>
          </p:cNvSpPr>
          <p:nvPr/>
        </p:nvSpPr>
        <p:spPr>
          <a:xfrm>
            <a:off x="6096000" y="2135124"/>
            <a:ext cx="5364480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5" name="t25"/>
          <p:cNvSpPr txBox="1">
            <a:spLocks noGrp="1"/>
          </p:cNvSpPr>
          <p:nvPr/>
        </p:nvSpPr>
        <p:spPr>
          <a:xfrm>
            <a:off x="6096000" y="2139696"/>
            <a:ext cx="512064" cy="58521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500" b="1" i="0" dirty="0">
                <a:solidFill>
                  <a:srgbClr val="9CD246"/>
                </a:solidFill>
                <a:latin typeface="Sora"/>
              </a:rPr>
              <a:t>07</a:t>
            </a:r>
            <a:endParaRPr lang="en-US" dirty="0"/>
          </a:p>
        </p:txBody>
      </p:sp>
      <p:sp>
        <p:nvSpPr>
          <p:cNvPr id="26" name="t26"/>
          <p:cNvSpPr txBox="1">
            <a:spLocks noGrp="1"/>
          </p:cNvSpPr>
          <p:nvPr/>
        </p:nvSpPr>
        <p:spPr>
          <a:xfrm>
            <a:off x="6662928" y="2139696"/>
            <a:ext cx="472440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700" b="0" i="0" dirty="0">
                <a:solidFill>
                  <a:srgbClr val="FFFFFF"/>
                </a:solidFill>
                <a:latin typeface="Sora"/>
              </a:rPr>
              <a:t>Do / Don't</a:t>
            </a:r>
            <a:endParaRPr lang="en-US" dirty="0"/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r3"/>
          <p:cNvSpPr>
            <a:spLocks noGrp="1"/>
          </p:cNvSpPr>
          <p:nvPr/>
        </p:nvSpPr>
        <p:spPr>
          <a:xfrm>
            <a:off x="0" y="0"/>
            <a:ext cx="4632960" cy="685800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0" y="0"/>
            <a:ext cx="463296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12000" b="1" i="0" dirty="0">
                <a:solidFill>
                  <a:srgbClr val="000000"/>
                </a:solidFill>
                <a:latin typeface="Sora"/>
              </a:rPr>
              <a:t>01</a:t>
            </a:r>
            <a:endParaRPr lang="en-US" dirty="0"/>
          </a:p>
        </p:txBody>
      </p:sp>
      <p:sp>
        <p:nvSpPr>
          <p:cNvPr id="5" name="t5"/>
          <p:cNvSpPr txBox="1">
            <a:spLocks noGrp="1"/>
          </p:cNvSpPr>
          <p:nvPr/>
        </p:nvSpPr>
        <p:spPr>
          <a:xfrm>
            <a:off x="5090160" y="1714500"/>
            <a:ext cx="69646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</a:t>
            </a:r>
            <a:endParaRPr lang="en-US" dirty="0"/>
          </a:p>
        </p:txBody>
      </p:sp>
      <p:sp>
        <p:nvSpPr>
          <p:cNvPr id="6" name="r6"/>
          <p:cNvSpPr>
            <a:spLocks noGrp="1"/>
          </p:cNvSpPr>
          <p:nvPr/>
        </p:nvSpPr>
        <p:spPr>
          <a:xfrm>
            <a:off x="5090160" y="2606040"/>
            <a:ext cx="548640" cy="2926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5090160" y="2880360"/>
            <a:ext cx="696468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4000" b="1" i="0" dirty="0">
                <a:solidFill>
                  <a:srgbClr val="FFFFFF"/>
                </a:solidFill>
                <a:latin typeface="Sora"/>
              </a:rPr>
              <a:t>Brand Essence &amp; Voice</a:t>
            </a:r>
            <a:endParaRPr lang="en-US" dirty="0"/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43891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t3"/>
          <p:cNvSpPr txBox="1">
            <a:spLocks noGrp="1"/>
          </p:cNvSpPr>
          <p:nvPr/>
        </p:nvSpPr>
        <p:spPr>
          <a:xfrm>
            <a:off x="502920" y="50292"/>
            <a:ext cx="1036320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Sora"/>
              </a:rPr>
              <a:t>01  Brand Essence &amp; Personality</a:t>
            </a:r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10911840" y="50292"/>
            <a:ext cx="109728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1300" b="1" i="0" dirty="0">
                <a:solidFill>
                  <a:srgbClr val="9CD246"/>
                </a:solidFill>
                <a:latin typeface="Sora"/>
              </a:rPr>
              <a:t>4</a:t>
            </a:r>
            <a:endParaRPr lang="en-US" dirty="0"/>
          </a:p>
        </p:txBody>
      </p:sp>
      <p:sp>
        <p:nvSpPr>
          <p:cNvPr id="5" name="r5"/>
          <p:cNvSpPr>
            <a:spLocks noGrp="1"/>
          </p:cNvSpPr>
          <p:nvPr/>
        </p:nvSpPr>
        <p:spPr>
          <a:xfrm>
            <a:off x="502920" y="822960"/>
            <a:ext cx="11186160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t6"/>
          <p:cNvSpPr txBox="1">
            <a:spLocks noGrp="1"/>
          </p:cNvSpPr>
          <p:nvPr/>
        </p:nvSpPr>
        <p:spPr>
          <a:xfrm>
            <a:off x="502920" y="65105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 v1.0</a:t>
            </a:r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9906000" y="65105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splitbo.in  ·  splitbo.app</a:t>
            </a:r>
            <a:endParaRPr lang="en-US" dirty="0"/>
          </a:p>
        </p:txBody>
      </p:sp>
      <p:sp>
        <p:nvSpPr>
          <p:cNvPr id="8" name="r8"/>
          <p:cNvSpPr>
            <a:spLocks noGrp="1"/>
          </p:cNvSpPr>
          <p:nvPr/>
        </p:nvSpPr>
        <p:spPr>
          <a:xfrm>
            <a:off x="502920" y="978408"/>
            <a:ext cx="2621280" cy="3291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9" name="r9"/>
          <p:cNvSpPr>
            <a:spLocks noGrp="1"/>
          </p:cNvSpPr>
          <p:nvPr/>
        </p:nvSpPr>
        <p:spPr>
          <a:xfrm>
            <a:off x="502920" y="978408"/>
            <a:ext cx="2621280" cy="4572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0" name="t10"/>
          <p:cNvSpPr txBox="1">
            <a:spLocks noGrp="1"/>
          </p:cNvSpPr>
          <p:nvPr/>
        </p:nvSpPr>
        <p:spPr>
          <a:xfrm>
            <a:off x="704088" y="1143000"/>
            <a:ext cx="2218944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2100" b="1" i="0" dirty="0">
                <a:solidFill>
                  <a:srgbClr val="FFFFFF"/>
                </a:solidFill>
                <a:latin typeface="Sora"/>
              </a:rPr>
              <a:t>Trustworthy</a:t>
            </a:r>
            <a:endParaRPr lang="en-US" dirty="0"/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704088" y="2093976"/>
            <a:ext cx="2218944" cy="731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2" name="t12"/>
          <p:cNvSpPr txBox="1">
            <a:spLocks noGrp="1"/>
          </p:cNvSpPr>
          <p:nvPr/>
        </p:nvSpPr>
        <p:spPr>
          <a:xfrm>
            <a:off x="704088" y="2240280"/>
            <a:ext cx="2218944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999999"/>
                </a:solidFill>
                <a:latin typeface="Sora"/>
              </a:rPr>
              <a:t>Clear numbers,
no hidden complexity.
Math first, design second.</a:t>
            </a:r>
            <a:endParaRPr lang="en-US" dirty="0"/>
          </a:p>
        </p:txBody>
      </p:sp>
      <p:sp>
        <p:nvSpPr>
          <p:cNvPr id="13" name="r13"/>
          <p:cNvSpPr>
            <a:spLocks noGrp="1"/>
          </p:cNvSpPr>
          <p:nvPr/>
        </p:nvSpPr>
        <p:spPr>
          <a:xfrm>
            <a:off x="3215640" y="978408"/>
            <a:ext cx="2621280" cy="32918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4" name="r14"/>
          <p:cNvSpPr>
            <a:spLocks noGrp="1"/>
          </p:cNvSpPr>
          <p:nvPr/>
        </p:nvSpPr>
        <p:spPr>
          <a:xfrm>
            <a:off x="3215640" y="978408"/>
            <a:ext cx="2621280" cy="4572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5" name="t15"/>
          <p:cNvSpPr txBox="1">
            <a:spLocks noGrp="1"/>
          </p:cNvSpPr>
          <p:nvPr/>
        </p:nvSpPr>
        <p:spPr>
          <a:xfrm>
            <a:off x="3416808" y="1143000"/>
            <a:ext cx="2218944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2100" b="1" i="0" dirty="0">
                <a:solidFill>
                  <a:srgbClr val="FFFFFF"/>
                </a:solidFill>
                <a:latin typeface="Sora"/>
              </a:rPr>
              <a:t>Friendly</a:t>
            </a:r>
            <a:endParaRPr lang="en-US" dirty="0"/>
          </a:p>
        </p:txBody>
      </p:sp>
      <p:sp>
        <p:nvSpPr>
          <p:cNvPr id="16" name="r16"/>
          <p:cNvSpPr>
            <a:spLocks noGrp="1"/>
          </p:cNvSpPr>
          <p:nvPr/>
        </p:nvSpPr>
        <p:spPr>
          <a:xfrm>
            <a:off x="3416808" y="2093976"/>
            <a:ext cx="2218944" cy="731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7" name="t17"/>
          <p:cNvSpPr txBox="1">
            <a:spLocks noGrp="1"/>
          </p:cNvSpPr>
          <p:nvPr/>
        </p:nvSpPr>
        <p:spPr>
          <a:xfrm>
            <a:off x="3416808" y="2240280"/>
            <a:ext cx="2218944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999999"/>
                </a:solidFill>
                <a:latin typeface="Sora"/>
              </a:rPr>
              <a:t>Approachable UI,
warm micro-copy.
Users, not transactions.</a:t>
            </a:r>
            <a:endParaRPr lang="en-US" dirty="0"/>
          </a:p>
        </p:txBody>
      </p:sp>
      <p:sp>
        <p:nvSpPr>
          <p:cNvPr id="18" name="r18"/>
          <p:cNvSpPr>
            <a:spLocks noGrp="1"/>
          </p:cNvSpPr>
          <p:nvPr/>
        </p:nvSpPr>
        <p:spPr>
          <a:xfrm>
            <a:off x="5928360" y="978408"/>
            <a:ext cx="2621280" cy="3291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9" name="r19"/>
          <p:cNvSpPr>
            <a:spLocks noGrp="1"/>
          </p:cNvSpPr>
          <p:nvPr/>
        </p:nvSpPr>
        <p:spPr>
          <a:xfrm>
            <a:off x="5928360" y="978408"/>
            <a:ext cx="2621280" cy="4572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t20"/>
          <p:cNvSpPr txBox="1">
            <a:spLocks noGrp="1"/>
          </p:cNvSpPr>
          <p:nvPr/>
        </p:nvSpPr>
        <p:spPr>
          <a:xfrm>
            <a:off x="6129528" y="1143000"/>
            <a:ext cx="2218944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2100" b="1" i="0" dirty="0">
                <a:solidFill>
                  <a:srgbClr val="FFFFFF"/>
                </a:solidFill>
                <a:latin typeface="Sora"/>
              </a:rPr>
              <a:t>Precise</a:t>
            </a:r>
            <a:endParaRPr lang="en-US" dirty="0"/>
          </a:p>
        </p:txBody>
      </p:sp>
      <p:sp>
        <p:nvSpPr>
          <p:cNvPr id="21" name="r21"/>
          <p:cNvSpPr>
            <a:spLocks noGrp="1"/>
          </p:cNvSpPr>
          <p:nvPr/>
        </p:nvSpPr>
        <p:spPr>
          <a:xfrm>
            <a:off x="6129528" y="2093976"/>
            <a:ext cx="2218944" cy="731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2" name="t22"/>
          <p:cNvSpPr txBox="1">
            <a:spLocks noGrp="1"/>
          </p:cNvSpPr>
          <p:nvPr/>
        </p:nvSpPr>
        <p:spPr>
          <a:xfrm>
            <a:off x="6129528" y="2240280"/>
            <a:ext cx="2218944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999999"/>
                </a:solidFill>
                <a:latin typeface="Sora"/>
              </a:rPr>
              <a:t>Balances always
correct to the paisa.
Zero tolerance for drift.</a:t>
            </a:r>
            <a:endParaRPr lang="en-US" dirty="0"/>
          </a:p>
        </p:txBody>
      </p:sp>
      <p:sp>
        <p:nvSpPr>
          <p:cNvPr id="23" name="r23"/>
          <p:cNvSpPr>
            <a:spLocks noGrp="1"/>
          </p:cNvSpPr>
          <p:nvPr/>
        </p:nvSpPr>
        <p:spPr>
          <a:xfrm>
            <a:off x="8641080" y="978408"/>
            <a:ext cx="2621280" cy="32918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4" name="r24"/>
          <p:cNvSpPr>
            <a:spLocks noGrp="1"/>
          </p:cNvSpPr>
          <p:nvPr/>
        </p:nvSpPr>
        <p:spPr>
          <a:xfrm>
            <a:off x="8641080" y="978408"/>
            <a:ext cx="2621280" cy="4572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5" name="t25"/>
          <p:cNvSpPr txBox="1">
            <a:spLocks noGrp="1"/>
          </p:cNvSpPr>
          <p:nvPr/>
        </p:nvSpPr>
        <p:spPr>
          <a:xfrm>
            <a:off x="8842248" y="1143000"/>
            <a:ext cx="2218944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2100" b="1" i="0" dirty="0">
                <a:solidFill>
                  <a:srgbClr val="FFFFFF"/>
                </a:solidFill>
                <a:latin typeface="Sora"/>
              </a:rPr>
              <a:t>Modern</a:t>
            </a:r>
            <a:endParaRPr lang="en-US" dirty="0"/>
          </a:p>
        </p:txBody>
      </p:sp>
      <p:sp>
        <p:nvSpPr>
          <p:cNvPr id="26" name="r26"/>
          <p:cNvSpPr>
            <a:spLocks noGrp="1"/>
          </p:cNvSpPr>
          <p:nvPr/>
        </p:nvSpPr>
        <p:spPr>
          <a:xfrm>
            <a:off x="8842248" y="2093976"/>
            <a:ext cx="2218944" cy="731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7" name="t27"/>
          <p:cNvSpPr txBox="1">
            <a:spLocks noGrp="1"/>
          </p:cNvSpPr>
          <p:nvPr/>
        </p:nvSpPr>
        <p:spPr>
          <a:xfrm>
            <a:off x="8842248" y="2240280"/>
            <a:ext cx="2218944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999999"/>
                </a:solidFill>
                <a:latin typeface="Sora"/>
              </a:rPr>
              <a:t>Clean, fast,
works everywhere.
iOS · Android · Web.</a:t>
            </a:r>
            <a:endParaRPr lang="en-US" dirty="0"/>
          </a:p>
        </p:txBody>
      </p:sp>
      <p:sp>
        <p:nvSpPr>
          <p:cNvPr id="28" name="r28"/>
          <p:cNvSpPr>
            <a:spLocks noGrp="1"/>
          </p:cNvSpPr>
          <p:nvPr/>
        </p:nvSpPr>
        <p:spPr>
          <a:xfrm>
            <a:off x="502920" y="4434840"/>
            <a:ext cx="11186160" cy="475488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9" name="t29"/>
          <p:cNvSpPr txBox="1">
            <a:spLocks noGrp="1"/>
          </p:cNvSpPr>
          <p:nvPr/>
        </p:nvSpPr>
        <p:spPr>
          <a:xfrm>
            <a:off x="704088" y="4434840"/>
            <a:ext cx="1078382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1" i="0" dirty="0">
                <a:solidFill>
                  <a:srgbClr val="000000"/>
                </a:solidFill>
                <a:latin typeface="Sora"/>
              </a:rPr>
              <a:t>Voice: Lead with clarity  ·  Be human  ·  Never alarming  ·  Always brief</a:t>
            </a:r>
            <a:endParaRPr lang="en-US" dirty="0"/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r3"/>
          <p:cNvSpPr>
            <a:spLocks noGrp="1"/>
          </p:cNvSpPr>
          <p:nvPr/>
        </p:nvSpPr>
        <p:spPr>
          <a:xfrm>
            <a:off x="0" y="0"/>
            <a:ext cx="4632960" cy="685800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0" y="0"/>
            <a:ext cx="463296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12000" b="1" i="0" dirty="0">
                <a:solidFill>
                  <a:srgbClr val="000000"/>
                </a:solidFill>
                <a:latin typeface="Sora"/>
              </a:rPr>
              <a:t>02</a:t>
            </a:r>
            <a:endParaRPr lang="en-US" dirty="0"/>
          </a:p>
        </p:txBody>
      </p:sp>
      <p:sp>
        <p:nvSpPr>
          <p:cNvPr id="5" name="t5"/>
          <p:cNvSpPr txBox="1">
            <a:spLocks noGrp="1"/>
          </p:cNvSpPr>
          <p:nvPr/>
        </p:nvSpPr>
        <p:spPr>
          <a:xfrm>
            <a:off x="5090160" y="1714500"/>
            <a:ext cx="69646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</a:t>
            </a:r>
            <a:endParaRPr lang="en-US" dirty="0"/>
          </a:p>
        </p:txBody>
      </p:sp>
      <p:sp>
        <p:nvSpPr>
          <p:cNvPr id="6" name="r6"/>
          <p:cNvSpPr>
            <a:spLocks noGrp="1"/>
          </p:cNvSpPr>
          <p:nvPr/>
        </p:nvSpPr>
        <p:spPr>
          <a:xfrm>
            <a:off x="5090160" y="2606040"/>
            <a:ext cx="548640" cy="2926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5090160" y="2880360"/>
            <a:ext cx="696468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4000" b="1" i="0" dirty="0">
                <a:solidFill>
                  <a:srgbClr val="FFFFFF"/>
                </a:solidFill>
                <a:latin typeface="Sora"/>
              </a:rPr>
              <a:t>Color System</a:t>
            </a:r>
            <a:endParaRPr lang="en-US" dirty="0"/>
          </a:p>
        </p:txBody>
      </p:sp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43891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t3"/>
          <p:cNvSpPr txBox="1">
            <a:spLocks noGrp="1"/>
          </p:cNvSpPr>
          <p:nvPr/>
        </p:nvSpPr>
        <p:spPr>
          <a:xfrm>
            <a:off x="502920" y="50292"/>
            <a:ext cx="1036320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Sora"/>
              </a:rPr>
              <a:t>02  Color System — Primary Palette</a:t>
            </a:r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10911840" y="50292"/>
            <a:ext cx="109728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1300" b="1" i="0" dirty="0">
                <a:solidFill>
                  <a:srgbClr val="9CD246"/>
                </a:solidFill>
                <a:latin typeface="Sora"/>
              </a:rPr>
              <a:t>6</a:t>
            </a:r>
            <a:endParaRPr lang="en-US" dirty="0"/>
          </a:p>
        </p:txBody>
      </p:sp>
      <p:sp>
        <p:nvSpPr>
          <p:cNvPr id="5" name="r5"/>
          <p:cNvSpPr>
            <a:spLocks noGrp="1"/>
          </p:cNvSpPr>
          <p:nvPr/>
        </p:nvSpPr>
        <p:spPr>
          <a:xfrm>
            <a:off x="502920" y="822960"/>
            <a:ext cx="11186160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t6"/>
          <p:cNvSpPr txBox="1">
            <a:spLocks noGrp="1"/>
          </p:cNvSpPr>
          <p:nvPr/>
        </p:nvSpPr>
        <p:spPr>
          <a:xfrm>
            <a:off x="502920" y="65105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 v1.0</a:t>
            </a:r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9906000" y="65105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splitbo.in  ·  splitbo.app</a:t>
            </a:r>
            <a:endParaRPr lang="en-US" dirty="0"/>
          </a:p>
        </p:txBody>
      </p:sp>
      <p:sp>
        <p:nvSpPr>
          <p:cNvPr id="8" name="r8"/>
          <p:cNvSpPr>
            <a:spLocks noGrp="1"/>
          </p:cNvSpPr>
          <p:nvPr/>
        </p:nvSpPr>
        <p:spPr>
          <a:xfrm>
            <a:off x="502920" y="932688"/>
            <a:ext cx="5364480" cy="5504688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9" name="t9"/>
          <p:cNvSpPr txBox="1">
            <a:spLocks noGrp="1"/>
          </p:cNvSpPr>
          <p:nvPr/>
        </p:nvSpPr>
        <p:spPr>
          <a:xfrm>
            <a:off x="758952" y="1161288"/>
            <a:ext cx="49987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3400" b="1" i="0" dirty="0">
                <a:solidFill>
                  <a:srgbClr val="000000"/>
                </a:solidFill>
                <a:latin typeface="Sora"/>
              </a:rPr>
              <a:t>Splitbo
Green</a:t>
            </a:r>
            <a:endParaRPr lang="en-US" dirty="0"/>
          </a:p>
        </p:txBody>
      </p:sp>
      <p:sp>
        <p:nvSpPr>
          <p:cNvPr id="10" name="t10"/>
          <p:cNvSpPr txBox="1">
            <a:spLocks noGrp="1"/>
          </p:cNvSpPr>
          <p:nvPr/>
        </p:nvSpPr>
        <p:spPr>
          <a:xfrm>
            <a:off x="758952" y="5248656"/>
            <a:ext cx="499872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2600" b="1" i="0" dirty="0">
                <a:solidFill>
                  <a:srgbClr val="000000"/>
                </a:solidFill>
                <a:latin typeface="Sora"/>
              </a:rPr>
              <a:t>#9CD246</a:t>
            </a:r>
            <a:endParaRPr lang="en-US" dirty="0"/>
          </a:p>
          <a:p>
            <a:pPr algn="l">
              <a:spcBef>
                <a:spcPts val="100"/>
              </a:spcBef>
            </a:pPr>
            <a:r>
              <a:rPr lang="en-US" sz="1100" b="0" i="0" dirty="0">
                <a:solidFill>
                  <a:srgbClr val="000000"/>
                </a:solidFill>
                <a:latin typeface="Sora"/>
              </a:rPr>
              <a:t>RGB  156 · 210 · 70</a:t>
            </a:r>
            <a:endParaRPr lang="en-US" dirty="0"/>
          </a:p>
          <a:p>
            <a:pPr algn="l">
              <a:spcBef>
                <a:spcPts val="70"/>
              </a:spcBef>
            </a:pPr>
            <a:r>
              <a:rPr lang="en-US" sz="1100" b="0" i="1" dirty="0">
                <a:solidFill>
                  <a:srgbClr val="000000"/>
                </a:solidFill>
                <a:latin typeface="Sora"/>
              </a:rPr>
              <a:t>Primary — CTAs, active states, logo mark</a:t>
            </a:r>
            <a:endParaRPr lang="en-US" dirty="0"/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6050280" y="932688"/>
            <a:ext cx="5638800" cy="2862437"/>
          </a:xfrm>
          <a:prstGeom prst="rect">
            <a:avLst/>
          </a:prstGeom>
          <a:solidFill>
            <a:srgbClr val="1A1A1A"/>
          </a:solidFill>
          <a:ln w="9525">
            <a:solidFill>
              <a:srgbClr val="222222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2" name="t12"/>
          <p:cNvSpPr txBox="1">
            <a:spLocks noGrp="1"/>
          </p:cNvSpPr>
          <p:nvPr/>
        </p:nvSpPr>
        <p:spPr>
          <a:xfrm>
            <a:off x="6233160" y="1115568"/>
            <a:ext cx="5382768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2300" b="1" i="0" dirty="0">
                <a:solidFill>
                  <a:srgbClr val="FFFFFF"/>
                </a:solidFill>
                <a:latin typeface="Sora"/>
              </a:rPr>
              <a:t>Black</a:t>
            </a:r>
            <a:endParaRPr lang="en-US" dirty="0"/>
          </a:p>
        </p:txBody>
      </p:sp>
      <p:sp>
        <p:nvSpPr>
          <p:cNvPr id="13" name="t13"/>
          <p:cNvSpPr txBox="1">
            <a:spLocks noGrp="1"/>
          </p:cNvSpPr>
          <p:nvPr/>
        </p:nvSpPr>
        <p:spPr>
          <a:xfrm>
            <a:off x="6233160" y="3045317"/>
            <a:ext cx="5382768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700" b="1" i="0" dirty="0">
                <a:solidFill>
                  <a:srgbClr val="FFFFFF"/>
                </a:solidFill>
                <a:latin typeface="Sora"/>
              </a:rPr>
              <a:t>#000000</a:t>
            </a:r>
            <a:endParaRPr lang="en-US" dirty="0"/>
          </a:p>
          <a:p>
            <a:pPr algn="l">
              <a:spcBef>
                <a:spcPts val="70"/>
              </a:spcBef>
            </a:pPr>
            <a:r>
              <a:rPr lang="en-US" sz="1100" b="0" i="0" dirty="0">
                <a:solidFill>
                  <a:srgbClr val="666666"/>
                </a:solidFill>
                <a:latin typeface="Sora"/>
              </a:rPr>
              <a:t>Backgrounds · dark mode · headlines</a:t>
            </a:r>
            <a:endParaRPr lang="en-US" dirty="0"/>
          </a:p>
        </p:txBody>
      </p:sp>
      <p:sp>
        <p:nvSpPr>
          <p:cNvPr id="14" name="r14"/>
          <p:cNvSpPr>
            <a:spLocks noGrp="1"/>
          </p:cNvSpPr>
          <p:nvPr/>
        </p:nvSpPr>
        <p:spPr>
          <a:xfrm>
            <a:off x="6050280" y="3868277"/>
            <a:ext cx="5638800" cy="256909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5" name="t15"/>
          <p:cNvSpPr txBox="1">
            <a:spLocks noGrp="1"/>
          </p:cNvSpPr>
          <p:nvPr/>
        </p:nvSpPr>
        <p:spPr>
          <a:xfrm>
            <a:off x="6233160" y="4032869"/>
            <a:ext cx="5382768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2300" b="1" i="0" dirty="0">
                <a:solidFill>
                  <a:srgbClr val="0D0D0D"/>
                </a:solidFill>
                <a:latin typeface="Sora"/>
              </a:rPr>
              <a:t>White</a:t>
            </a:r>
            <a:endParaRPr lang="en-US" dirty="0"/>
          </a:p>
        </p:txBody>
      </p:sp>
      <p:sp>
        <p:nvSpPr>
          <p:cNvPr id="16" name="t16"/>
          <p:cNvSpPr txBox="1">
            <a:spLocks noGrp="1"/>
          </p:cNvSpPr>
          <p:nvPr/>
        </p:nvSpPr>
        <p:spPr>
          <a:xfrm>
            <a:off x="6233160" y="5687568"/>
            <a:ext cx="5382768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700" b="1" i="0" dirty="0">
                <a:solidFill>
                  <a:srgbClr val="0D0D0D"/>
                </a:solidFill>
                <a:latin typeface="Sora"/>
              </a:rPr>
              <a:t>#FFFFFF</a:t>
            </a:r>
            <a:endParaRPr lang="en-US" dirty="0"/>
          </a:p>
          <a:p>
            <a:pPr algn="l">
              <a:spcBef>
                <a:spcPts val="70"/>
              </a:spcBef>
            </a:pPr>
            <a:r>
              <a:rPr lang="en-US" sz="1100" b="0" i="0" dirty="0">
                <a:solidFill>
                  <a:srgbClr val="666666"/>
                </a:solidFill>
                <a:latin typeface="Sora"/>
              </a:rPr>
              <a:t>Backgrounds · reversed text · light surfaces</a:t>
            </a:r>
            <a:endParaRPr lang="en-US" dirty="0"/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43891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t3"/>
          <p:cNvSpPr txBox="1">
            <a:spLocks noGrp="1"/>
          </p:cNvSpPr>
          <p:nvPr/>
        </p:nvSpPr>
        <p:spPr>
          <a:xfrm>
            <a:off x="502920" y="50292"/>
            <a:ext cx="1036320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Sora"/>
              </a:rPr>
              <a:t>02  Color System — Semantic Palette</a:t>
            </a:r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10911840" y="50292"/>
            <a:ext cx="109728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1300" b="1" i="0" dirty="0">
                <a:solidFill>
                  <a:srgbClr val="9CD246"/>
                </a:solidFill>
                <a:latin typeface="Sora"/>
              </a:rPr>
              <a:t>7</a:t>
            </a:r>
            <a:endParaRPr lang="en-US" dirty="0"/>
          </a:p>
        </p:txBody>
      </p:sp>
      <p:sp>
        <p:nvSpPr>
          <p:cNvPr id="5" name="r5"/>
          <p:cNvSpPr>
            <a:spLocks noGrp="1"/>
          </p:cNvSpPr>
          <p:nvPr/>
        </p:nvSpPr>
        <p:spPr>
          <a:xfrm>
            <a:off x="502920" y="822960"/>
            <a:ext cx="11186160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t6"/>
          <p:cNvSpPr txBox="1">
            <a:spLocks noGrp="1"/>
          </p:cNvSpPr>
          <p:nvPr/>
        </p:nvSpPr>
        <p:spPr>
          <a:xfrm>
            <a:off x="502920" y="65105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 v1.0</a:t>
            </a:r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9906000" y="65105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splitbo.in  ·  splitbo.app</a:t>
            </a:r>
            <a:endParaRPr lang="en-US" dirty="0"/>
          </a:p>
        </p:txBody>
      </p:sp>
      <p:sp>
        <p:nvSpPr>
          <p:cNvPr id="8" name="r8"/>
          <p:cNvSpPr>
            <a:spLocks noGrp="1"/>
          </p:cNvSpPr>
          <p:nvPr/>
        </p:nvSpPr>
        <p:spPr>
          <a:xfrm>
            <a:off x="502920" y="1005840"/>
            <a:ext cx="2621280" cy="3200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9" name="t9"/>
          <p:cNvSpPr txBox="1">
            <a:spLocks noGrp="1"/>
          </p:cNvSpPr>
          <p:nvPr/>
        </p:nvSpPr>
        <p:spPr>
          <a:xfrm>
            <a:off x="685800" y="1188720"/>
            <a:ext cx="225552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Sora"/>
              </a:rPr>
              <a:t>Positive</a:t>
            </a:r>
            <a:endParaRPr lang="en-US" dirty="0"/>
          </a:p>
        </p:txBody>
      </p:sp>
      <p:sp>
        <p:nvSpPr>
          <p:cNvPr id="10" name="t10"/>
          <p:cNvSpPr txBox="1">
            <a:spLocks noGrp="1"/>
          </p:cNvSpPr>
          <p:nvPr/>
        </p:nvSpPr>
        <p:spPr>
          <a:xfrm>
            <a:off x="685800" y="3200400"/>
            <a:ext cx="22555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700" b="1" i="0" dirty="0">
                <a:solidFill>
                  <a:srgbClr val="FFFFFF"/>
                </a:solidFill>
                <a:latin typeface="Sora"/>
              </a:rPr>
              <a:t>#22C55E</a:t>
            </a:r>
            <a:endParaRPr lang="en-US" dirty="0"/>
          </a:p>
          <a:p>
            <a:pPr algn="l">
              <a:spcBef>
                <a:spcPts val="90"/>
              </a:spcBef>
            </a:pPr>
            <a:r>
              <a:rPr lang="en-US" sz="1200" b="0" i="1" dirty="0">
                <a:solidFill>
                  <a:srgbClr val="FFFFFF"/>
                </a:solidFill>
                <a:latin typeface="Sora"/>
              </a:rPr>
              <a:t>You are owed</a:t>
            </a:r>
            <a:endParaRPr lang="en-US" dirty="0"/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3215640" y="1005840"/>
            <a:ext cx="2621280" cy="3200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2" name="t12"/>
          <p:cNvSpPr txBox="1">
            <a:spLocks noGrp="1"/>
          </p:cNvSpPr>
          <p:nvPr/>
        </p:nvSpPr>
        <p:spPr>
          <a:xfrm>
            <a:off x="3398520" y="1188720"/>
            <a:ext cx="225552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Sora"/>
              </a:rPr>
              <a:t>Negative</a:t>
            </a:r>
            <a:endParaRPr lang="en-US" dirty="0"/>
          </a:p>
        </p:txBody>
      </p:sp>
      <p:sp>
        <p:nvSpPr>
          <p:cNvPr id="13" name="t13"/>
          <p:cNvSpPr txBox="1">
            <a:spLocks noGrp="1"/>
          </p:cNvSpPr>
          <p:nvPr/>
        </p:nvSpPr>
        <p:spPr>
          <a:xfrm>
            <a:off x="3398520" y="3200400"/>
            <a:ext cx="22555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700" b="1" i="0" dirty="0">
                <a:solidFill>
                  <a:srgbClr val="FFFFFF"/>
                </a:solidFill>
                <a:latin typeface="Sora"/>
              </a:rPr>
              <a:t>#F97316</a:t>
            </a:r>
            <a:endParaRPr lang="en-US" dirty="0"/>
          </a:p>
          <a:p>
            <a:pPr algn="l">
              <a:spcBef>
                <a:spcPts val="90"/>
              </a:spcBef>
            </a:pPr>
            <a:r>
              <a:rPr lang="en-US" sz="1200" b="0" i="1" dirty="0">
                <a:solidFill>
                  <a:srgbClr val="FFFFFF"/>
                </a:solidFill>
                <a:latin typeface="Sora"/>
              </a:rPr>
              <a:t>You owe</a:t>
            </a:r>
            <a:endParaRPr lang="en-US" dirty="0"/>
          </a:p>
        </p:txBody>
      </p:sp>
      <p:sp>
        <p:nvSpPr>
          <p:cNvPr id="14" name="r14"/>
          <p:cNvSpPr>
            <a:spLocks noGrp="1"/>
          </p:cNvSpPr>
          <p:nvPr/>
        </p:nvSpPr>
        <p:spPr>
          <a:xfrm>
            <a:off x="5928360" y="1005840"/>
            <a:ext cx="2621280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5" name="t15"/>
          <p:cNvSpPr txBox="1">
            <a:spLocks noGrp="1"/>
          </p:cNvSpPr>
          <p:nvPr/>
        </p:nvSpPr>
        <p:spPr>
          <a:xfrm>
            <a:off x="6111240" y="1188720"/>
            <a:ext cx="225552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2200" b="1" i="0" dirty="0">
                <a:solidFill>
                  <a:srgbClr val="000000"/>
                </a:solidFill>
                <a:latin typeface="Sora"/>
              </a:rPr>
              <a:t>Warning</a:t>
            </a:r>
            <a:endParaRPr lang="en-US" dirty="0"/>
          </a:p>
        </p:txBody>
      </p:sp>
      <p:sp>
        <p:nvSpPr>
          <p:cNvPr id="16" name="t16"/>
          <p:cNvSpPr txBox="1">
            <a:spLocks noGrp="1"/>
          </p:cNvSpPr>
          <p:nvPr/>
        </p:nvSpPr>
        <p:spPr>
          <a:xfrm>
            <a:off x="6111240" y="3200400"/>
            <a:ext cx="22555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700" b="1" i="0" dirty="0">
                <a:solidFill>
                  <a:srgbClr val="000000"/>
                </a:solidFill>
                <a:latin typeface="Sora"/>
              </a:rPr>
              <a:t>#F59E0B</a:t>
            </a:r>
            <a:endParaRPr lang="en-US" dirty="0"/>
          </a:p>
          <a:p>
            <a:pPr algn="l">
              <a:spcBef>
                <a:spcPts val="90"/>
              </a:spcBef>
            </a:pPr>
            <a:r>
              <a:rPr lang="en-US" sz="1200" b="0" i="1" dirty="0">
                <a:solidFill>
                  <a:srgbClr val="000000"/>
                </a:solidFill>
                <a:latin typeface="Sora"/>
              </a:rPr>
              <a:t>Pending / partial</a:t>
            </a:r>
            <a:endParaRPr lang="en-US" dirty="0"/>
          </a:p>
        </p:txBody>
      </p:sp>
      <p:sp>
        <p:nvSpPr>
          <p:cNvPr id="17" name="r17"/>
          <p:cNvSpPr>
            <a:spLocks noGrp="1"/>
          </p:cNvSpPr>
          <p:nvPr/>
        </p:nvSpPr>
        <p:spPr>
          <a:xfrm>
            <a:off x="8641080" y="1005840"/>
            <a:ext cx="2621280" cy="3200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8" name="t18"/>
          <p:cNvSpPr txBox="1">
            <a:spLocks noGrp="1"/>
          </p:cNvSpPr>
          <p:nvPr/>
        </p:nvSpPr>
        <p:spPr>
          <a:xfrm>
            <a:off x="8823960" y="1188720"/>
            <a:ext cx="225552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Sora"/>
              </a:rPr>
              <a:t>Error</a:t>
            </a:r>
            <a:endParaRPr lang="en-US" dirty="0"/>
          </a:p>
        </p:txBody>
      </p:sp>
      <p:sp>
        <p:nvSpPr>
          <p:cNvPr id="19" name="t19"/>
          <p:cNvSpPr txBox="1">
            <a:spLocks noGrp="1"/>
          </p:cNvSpPr>
          <p:nvPr/>
        </p:nvSpPr>
        <p:spPr>
          <a:xfrm>
            <a:off x="8823960" y="3200400"/>
            <a:ext cx="22555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700" b="1" i="0" dirty="0">
                <a:solidFill>
                  <a:srgbClr val="FFFFFF"/>
                </a:solidFill>
                <a:latin typeface="Sora"/>
              </a:rPr>
              <a:t>#DC2626</a:t>
            </a:r>
            <a:endParaRPr lang="en-US" dirty="0"/>
          </a:p>
          <a:p>
            <a:pPr algn="l">
              <a:spcBef>
                <a:spcPts val="90"/>
              </a:spcBef>
            </a:pPr>
            <a:r>
              <a:rPr lang="en-US" sz="1200" b="0" i="1" dirty="0">
                <a:solidFill>
                  <a:srgbClr val="FFFFFF"/>
                </a:solidFill>
                <a:latin typeface="Sora"/>
              </a:rPr>
              <a:t>Destructive only</a:t>
            </a:r>
            <a:endParaRPr lang="en-US" dirty="0"/>
          </a:p>
        </p:txBody>
      </p:sp>
      <p:sp>
        <p:nvSpPr>
          <p:cNvPr id="20" name="r20"/>
          <p:cNvSpPr>
            <a:spLocks noGrp="1"/>
          </p:cNvSpPr>
          <p:nvPr/>
        </p:nvSpPr>
        <p:spPr>
          <a:xfrm>
            <a:off x="502920" y="4370832"/>
            <a:ext cx="11186160" cy="530352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1" name="t21"/>
          <p:cNvSpPr txBox="1">
            <a:spLocks noGrp="1"/>
          </p:cNvSpPr>
          <p:nvPr/>
        </p:nvSpPr>
        <p:spPr>
          <a:xfrm>
            <a:off x="704088" y="4370832"/>
            <a:ext cx="10783824" cy="530352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500" b="1" i="0" dirty="0">
                <a:solidFill>
                  <a:srgbClr val="000000"/>
                </a:solidFill>
                <a:latin typeface="Sora"/>
              </a:rPr>
              <a:t>Rule: NEVER use red for 'you owe'. Use Negative orange — warm, not alarming.</a:t>
            </a:r>
            <a:endParaRPr lang="en-US" dirty="0"/>
          </a:p>
        </p:txBody>
      </p:sp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43891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t3"/>
          <p:cNvSpPr txBox="1">
            <a:spLocks noGrp="1"/>
          </p:cNvSpPr>
          <p:nvPr/>
        </p:nvSpPr>
        <p:spPr>
          <a:xfrm>
            <a:off x="502920" y="50292"/>
            <a:ext cx="1036320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Sora"/>
              </a:rPr>
              <a:t>02  Color System — Dark Mode Neutrals</a:t>
            </a:r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10911840" y="50292"/>
            <a:ext cx="109728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1300" b="1" i="0" dirty="0">
                <a:solidFill>
                  <a:srgbClr val="9CD246"/>
                </a:solidFill>
                <a:latin typeface="Sora"/>
              </a:rPr>
              <a:t>8</a:t>
            </a:r>
            <a:endParaRPr lang="en-US" dirty="0"/>
          </a:p>
        </p:txBody>
      </p:sp>
      <p:sp>
        <p:nvSpPr>
          <p:cNvPr id="5" name="r5"/>
          <p:cNvSpPr>
            <a:spLocks noGrp="1"/>
          </p:cNvSpPr>
          <p:nvPr/>
        </p:nvSpPr>
        <p:spPr>
          <a:xfrm>
            <a:off x="502920" y="822960"/>
            <a:ext cx="11186160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t6"/>
          <p:cNvSpPr txBox="1">
            <a:spLocks noGrp="1"/>
          </p:cNvSpPr>
          <p:nvPr/>
        </p:nvSpPr>
        <p:spPr>
          <a:xfrm>
            <a:off x="502920" y="65105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 v1.0</a:t>
            </a:r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9906000" y="65105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splitbo.in  ·  splitbo.app</a:t>
            </a:r>
            <a:endParaRPr lang="en-US" dirty="0"/>
          </a:p>
        </p:txBody>
      </p:sp>
      <p:sp>
        <p:nvSpPr>
          <p:cNvPr id="8" name="r8"/>
          <p:cNvSpPr>
            <a:spLocks noGrp="1"/>
          </p:cNvSpPr>
          <p:nvPr/>
        </p:nvSpPr>
        <p:spPr>
          <a:xfrm>
            <a:off x="502920" y="978408"/>
            <a:ext cx="2164080" cy="2651760"/>
          </a:xfrm>
          <a:prstGeom prst="rect">
            <a:avLst/>
          </a:prstGeom>
          <a:solidFill>
            <a:srgbClr val="000000"/>
          </a:solidFill>
          <a:ln w="9525">
            <a:solidFill>
              <a:srgbClr val="222222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9" name="t9"/>
          <p:cNvSpPr txBox="1">
            <a:spLocks noGrp="1"/>
          </p:cNvSpPr>
          <p:nvPr/>
        </p:nvSpPr>
        <p:spPr>
          <a:xfrm>
            <a:off x="640080" y="1143000"/>
            <a:ext cx="1889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600" b="1" i="0" dirty="0">
                <a:solidFill>
                  <a:srgbClr val="FFFFFF"/>
                </a:solidFill>
                <a:latin typeface="Sora"/>
              </a:rPr>
              <a:t>BG</a:t>
            </a:r>
            <a:endParaRPr lang="en-US" dirty="0"/>
          </a:p>
        </p:txBody>
      </p:sp>
      <p:sp>
        <p:nvSpPr>
          <p:cNvPr id="10" name="t10"/>
          <p:cNvSpPr txBox="1">
            <a:spLocks noGrp="1"/>
          </p:cNvSpPr>
          <p:nvPr/>
        </p:nvSpPr>
        <p:spPr>
          <a:xfrm>
            <a:off x="640080" y="2624328"/>
            <a:ext cx="18897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Sora"/>
              </a:rPr>
              <a:t>#000000</a:t>
            </a:r>
            <a:endParaRPr lang="en-US" dirty="0"/>
          </a:p>
          <a:p>
            <a:pPr algn="l">
              <a:spcBef>
                <a:spcPts val="80"/>
              </a:spcBef>
            </a:pPr>
            <a:r>
              <a:rPr lang="en-US" sz="1000" b="0" i="1" dirty="0">
                <a:solidFill>
                  <a:srgbClr val="FFFFFF"/>
                </a:solidFill>
                <a:latin typeface="Sora"/>
              </a:rPr>
              <a:t>Pure black app background</a:t>
            </a:r>
            <a:endParaRPr lang="en-US" dirty="0"/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2758440" y="978408"/>
            <a:ext cx="2164080" cy="2651760"/>
          </a:xfrm>
          <a:prstGeom prst="rect">
            <a:avLst/>
          </a:prstGeom>
          <a:solidFill>
            <a:srgbClr val="141414"/>
          </a:solidFill>
          <a:ln w="9525">
            <a:solidFill>
              <a:srgbClr val="222222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2" name="t12"/>
          <p:cNvSpPr txBox="1">
            <a:spLocks noGrp="1"/>
          </p:cNvSpPr>
          <p:nvPr/>
        </p:nvSpPr>
        <p:spPr>
          <a:xfrm>
            <a:off x="2895600" y="1143000"/>
            <a:ext cx="1889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600" b="1" i="0" dirty="0">
                <a:solidFill>
                  <a:srgbClr val="FFFFFF"/>
                </a:solidFill>
                <a:latin typeface="Sora"/>
              </a:rPr>
              <a:t>Surface</a:t>
            </a:r>
            <a:endParaRPr lang="en-US" dirty="0"/>
          </a:p>
        </p:txBody>
      </p:sp>
      <p:sp>
        <p:nvSpPr>
          <p:cNvPr id="13" name="t13"/>
          <p:cNvSpPr txBox="1">
            <a:spLocks noGrp="1"/>
          </p:cNvSpPr>
          <p:nvPr/>
        </p:nvSpPr>
        <p:spPr>
          <a:xfrm>
            <a:off x="2895600" y="2624328"/>
            <a:ext cx="18897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Sora"/>
              </a:rPr>
              <a:t>#141414</a:t>
            </a:r>
            <a:endParaRPr lang="en-US" dirty="0"/>
          </a:p>
          <a:p>
            <a:pPr algn="l">
              <a:spcBef>
                <a:spcPts val="80"/>
              </a:spcBef>
            </a:pPr>
            <a:r>
              <a:rPr lang="en-US" sz="1000" b="0" i="1" dirty="0">
                <a:solidFill>
                  <a:srgbClr val="FFFFFF"/>
                </a:solidFill>
                <a:latin typeface="Sora"/>
              </a:rPr>
              <a:t>Cards, bottom sheets</a:t>
            </a:r>
            <a:endParaRPr lang="en-US" dirty="0"/>
          </a:p>
        </p:txBody>
      </p:sp>
      <p:sp>
        <p:nvSpPr>
          <p:cNvPr id="14" name="r14"/>
          <p:cNvSpPr>
            <a:spLocks noGrp="1"/>
          </p:cNvSpPr>
          <p:nvPr/>
        </p:nvSpPr>
        <p:spPr>
          <a:xfrm>
            <a:off x="5013960" y="978408"/>
            <a:ext cx="2164080" cy="2651760"/>
          </a:xfrm>
          <a:prstGeom prst="rect">
            <a:avLst/>
          </a:prstGeom>
          <a:solidFill>
            <a:srgbClr val="1E1E1E"/>
          </a:solidFill>
          <a:ln w="9525">
            <a:solidFill>
              <a:srgbClr val="222222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5" name="t15"/>
          <p:cNvSpPr txBox="1">
            <a:spLocks noGrp="1"/>
          </p:cNvSpPr>
          <p:nvPr/>
        </p:nvSpPr>
        <p:spPr>
          <a:xfrm>
            <a:off x="5151120" y="1143000"/>
            <a:ext cx="1889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600" b="1" i="0" dirty="0">
                <a:solidFill>
                  <a:srgbClr val="FFFFFF"/>
                </a:solidFill>
                <a:latin typeface="Sora"/>
              </a:rPr>
              <a:t>Surface 2</a:t>
            </a:r>
            <a:endParaRPr lang="en-US" dirty="0"/>
          </a:p>
        </p:txBody>
      </p:sp>
      <p:sp>
        <p:nvSpPr>
          <p:cNvPr id="16" name="t16"/>
          <p:cNvSpPr txBox="1">
            <a:spLocks noGrp="1"/>
          </p:cNvSpPr>
          <p:nvPr/>
        </p:nvSpPr>
        <p:spPr>
          <a:xfrm>
            <a:off x="5151120" y="2624328"/>
            <a:ext cx="18897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Sora"/>
              </a:rPr>
              <a:t>#1E1E1E</a:t>
            </a:r>
            <a:endParaRPr lang="en-US" dirty="0"/>
          </a:p>
          <a:p>
            <a:pPr algn="l">
              <a:spcBef>
                <a:spcPts val="80"/>
              </a:spcBef>
            </a:pPr>
            <a:r>
              <a:rPr lang="en-US" sz="1000" b="0" i="1" dirty="0">
                <a:solidFill>
                  <a:srgbClr val="FFFFFF"/>
                </a:solidFill>
                <a:latin typeface="Sora"/>
              </a:rPr>
              <a:t>Elevated cards, modals</a:t>
            </a:r>
            <a:endParaRPr lang="en-US" dirty="0"/>
          </a:p>
        </p:txBody>
      </p:sp>
      <p:sp>
        <p:nvSpPr>
          <p:cNvPr id="17" name="r17"/>
          <p:cNvSpPr>
            <a:spLocks noGrp="1"/>
          </p:cNvSpPr>
          <p:nvPr/>
        </p:nvSpPr>
        <p:spPr>
          <a:xfrm>
            <a:off x="7269480" y="978408"/>
            <a:ext cx="2164080" cy="2651760"/>
          </a:xfrm>
          <a:prstGeom prst="rect">
            <a:avLst/>
          </a:prstGeom>
          <a:solidFill>
            <a:srgbClr val="2A2A2A"/>
          </a:solidFill>
          <a:ln w="9525">
            <a:solidFill>
              <a:srgbClr val="222222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8" name="t18"/>
          <p:cNvSpPr txBox="1">
            <a:spLocks noGrp="1"/>
          </p:cNvSpPr>
          <p:nvPr/>
        </p:nvSpPr>
        <p:spPr>
          <a:xfrm>
            <a:off x="7406640" y="1143000"/>
            <a:ext cx="1889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600" b="1" i="0" dirty="0">
                <a:solidFill>
                  <a:srgbClr val="FFFFFF"/>
                </a:solidFill>
                <a:latin typeface="Sora"/>
              </a:rPr>
              <a:t>Border</a:t>
            </a:r>
            <a:endParaRPr lang="en-US" dirty="0"/>
          </a:p>
        </p:txBody>
      </p:sp>
      <p:sp>
        <p:nvSpPr>
          <p:cNvPr id="19" name="t19"/>
          <p:cNvSpPr txBox="1">
            <a:spLocks noGrp="1"/>
          </p:cNvSpPr>
          <p:nvPr/>
        </p:nvSpPr>
        <p:spPr>
          <a:xfrm>
            <a:off x="7406640" y="2624328"/>
            <a:ext cx="18897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Sora"/>
              </a:rPr>
              <a:t>#2A2A2A</a:t>
            </a:r>
            <a:endParaRPr lang="en-US" dirty="0"/>
          </a:p>
          <a:p>
            <a:pPr algn="l">
              <a:spcBef>
                <a:spcPts val="80"/>
              </a:spcBef>
            </a:pPr>
            <a:r>
              <a:rPr lang="en-US" sz="1000" b="0" i="1" dirty="0">
                <a:solidFill>
                  <a:srgbClr val="FFFFFF"/>
                </a:solidFill>
                <a:latin typeface="Sora"/>
              </a:rPr>
              <a:t>Dividers, input strokes</a:t>
            </a:r>
            <a:endParaRPr lang="en-US" dirty="0"/>
          </a:p>
        </p:txBody>
      </p:sp>
      <p:sp>
        <p:nvSpPr>
          <p:cNvPr id="20" name="r20"/>
          <p:cNvSpPr>
            <a:spLocks noGrp="1"/>
          </p:cNvSpPr>
          <p:nvPr/>
        </p:nvSpPr>
        <p:spPr>
          <a:xfrm>
            <a:off x="9525000" y="978408"/>
            <a:ext cx="2164080" cy="2651760"/>
          </a:xfrm>
          <a:prstGeom prst="rect">
            <a:avLst/>
          </a:prstGeom>
          <a:solidFill>
            <a:srgbClr val="999999"/>
          </a:solidFill>
          <a:ln w="9525">
            <a:solidFill>
              <a:srgbClr val="222222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1" name="t21"/>
          <p:cNvSpPr txBox="1">
            <a:spLocks noGrp="1"/>
          </p:cNvSpPr>
          <p:nvPr/>
        </p:nvSpPr>
        <p:spPr>
          <a:xfrm>
            <a:off x="9662160" y="1143000"/>
            <a:ext cx="18897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600" b="1" i="0" dirty="0">
                <a:solidFill>
                  <a:srgbClr val="0D0D0D"/>
                </a:solidFill>
                <a:latin typeface="Sora"/>
              </a:rPr>
              <a:t>Muted</a:t>
            </a:r>
            <a:endParaRPr lang="en-US" dirty="0"/>
          </a:p>
        </p:txBody>
      </p:sp>
      <p:sp>
        <p:nvSpPr>
          <p:cNvPr id="22" name="t22"/>
          <p:cNvSpPr txBox="1">
            <a:spLocks noGrp="1"/>
          </p:cNvSpPr>
          <p:nvPr/>
        </p:nvSpPr>
        <p:spPr>
          <a:xfrm>
            <a:off x="9662160" y="2624328"/>
            <a:ext cx="18897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300" b="1" i="0" dirty="0">
                <a:solidFill>
                  <a:srgbClr val="0D0D0D"/>
                </a:solidFill>
                <a:latin typeface="Sora"/>
              </a:rPr>
              <a:t>#999999</a:t>
            </a:r>
            <a:endParaRPr lang="en-US" dirty="0"/>
          </a:p>
          <a:p>
            <a:pPr algn="l">
              <a:spcBef>
                <a:spcPts val="80"/>
              </a:spcBef>
            </a:pPr>
            <a:r>
              <a:rPr lang="en-US" sz="1000" b="0" i="1" dirty="0">
                <a:solidFill>
                  <a:srgbClr val="0D0D0D"/>
                </a:solidFill>
                <a:latin typeface="Sora"/>
              </a:rPr>
              <a:t>Captions, subtitles</a:t>
            </a:r>
            <a:endParaRPr lang="en-US" dirty="0"/>
          </a:p>
        </p:txBody>
      </p:sp>
      <p:sp>
        <p:nvSpPr>
          <p:cNvPr id="23" name="r23"/>
          <p:cNvSpPr>
            <a:spLocks noGrp="1"/>
          </p:cNvSpPr>
          <p:nvPr/>
        </p:nvSpPr>
        <p:spPr>
          <a:xfrm>
            <a:off x="502920" y="3813048"/>
            <a:ext cx="11186160" cy="5120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4" name="r24"/>
          <p:cNvSpPr>
            <a:spLocks noGrp="1"/>
          </p:cNvSpPr>
          <p:nvPr/>
        </p:nvSpPr>
        <p:spPr>
          <a:xfrm>
            <a:off x="502920" y="3813048"/>
            <a:ext cx="45720" cy="512064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5" name="t25"/>
          <p:cNvSpPr txBox="1">
            <a:spLocks noGrp="1"/>
          </p:cNvSpPr>
          <p:nvPr/>
        </p:nvSpPr>
        <p:spPr>
          <a:xfrm>
            <a:off x="667512" y="3813048"/>
            <a:ext cx="10930128" cy="512064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999999"/>
                </a:solidFill>
                <a:latin typeface="Sora"/>
              </a:rPr>
              <a:t>Light Mode  →  BG #F5F5F5  ·  Surface #FFFFFF  ·  Border #E0E0E0  ·  Text #0D0D0D  ·  Muted #666666</a:t>
            </a:r>
            <a:endParaRPr lang="en-US" dirty="0"/>
          </a:p>
        </p:txBody>
      </p:sp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r3"/>
          <p:cNvSpPr>
            <a:spLocks noGrp="1"/>
          </p:cNvSpPr>
          <p:nvPr/>
        </p:nvSpPr>
        <p:spPr>
          <a:xfrm>
            <a:off x="0" y="0"/>
            <a:ext cx="4632960" cy="685800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0" y="0"/>
            <a:ext cx="463296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12000" b="1" i="0" dirty="0">
                <a:solidFill>
                  <a:srgbClr val="000000"/>
                </a:solidFill>
                <a:latin typeface="Sora"/>
              </a:rPr>
              <a:t>03</a:t>
            </a:r>
            <a:endParaRPr lang="en-US" dirty="0"/>
          </a:p>
        </p:txBody>
      </p:sp>
      <p:sp>
        <p:nvSpPr>
          <p:cNvPr id="5" name="t5"/>
          <p:cNvSpPr txBox="1">
            <a:spLocks noGrp="1"/>
          </p:cNvSpPr>
          <p:nvPr/>
        </p:nvSpPr>
        <p:spPr>
          <a:xfrm>
            <a:off x="5090160" y="1714500"/>
            <a:ext cx="69646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</a:t>
            </a:r>
            <a:endParaRPr lang="en-US" dirty="0"/>
          </a:p>
        </p:txBody>
      </p:sp>
      <p:sp>
        <p:nvSpPr>
          <p:cNvPr id="6" name="r6"/>
          <p:cNvSpPr>
            <a:spLocks noGrp="1"/>
          </p:cNvSpPr>
          <p:nvPr/>
        </p:nvSpPr>
        <p:spPr>
          <a:xfrm>
            <a:off x="5090160" y="2606040"/>
            <a:ext cx="548640" cy="2926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5090160" y="2880360"/>
            <a:ext cx="696468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4000" b="1" i="0" dirty="0">
                <a:solidFill>
                  <a:srgbClr val="FFFFFF"/>
                </a:solidFill>
                <a:latin typeface="Sora"/>
              </a:rPr>
              <a:t>Typography</a:t>
            </a:r>
            <a:endParaRPr lang="en-US" dirty="0"/>
          </a:p>
        </p:txBody>
      </p:sp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43891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t3"/>
          <p:cNvSpPr txBox="1">
            <a:spLocks noGrp="1"/>
          </p:cNvSpPr>
          <p:nvPr/>
        </p:nvSpPr>
        <p:spPr>
          <a:xfrm>
            <a:off x="502920" y="50292"/>
            <a:ext cx="1036320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Sora"/>
              </a:rPr>
              <a:t>03  Typography — Font Families</a:t>
            </a:r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10911840" y="50292"/>
            <a:ext cx="109728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1300" b="1" i="0" dirty="0">
                <a:solidFill>
                  <a:srgbClr val="9CD246"/>
                </a:solidFill>
                <a:latin typeface="Sora"/>
              </a:rPr>
              <a:t>10</a:t>
            </a:r>
            <a:endParaRPr lang="en-US" dirty="0"/>
          </a:p>
        </p:txBody>
      </p:sp>
      <p:sp>
        <p:nvSpPr>
          <p:cNvPr id="5" name="r5"/>
          <p:cNvSpPr>
            <a:spLocks noGrp="1"/>
          </p:cNvSpPr>
          <p:nvPr/>
        </p:nvSpPr>
        <p:spPr>
          <a:xfrm>
            <a:off x="502920" y="822960"/>
            <a:ext cx="11186160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t6"/>
          <p:cNvSpPr txBox="1">
            <a:spLocks noGrp="1"/>
          </p:cNvSpPr>
          <p:nvPr/>
        </p:nvSpPr>
        <p:spPr>
          <a:xfrm>
            <a:off x="502920" y="65105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 v1.0</a:t>
            </a:r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9906000" y="65105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splitbo.in  ·  splitbo.app</a:t>
            </a:r>
            <a:endParaRPr lang="en-US" dirty="0"/>
          </a:p>
        </p:txBody>
      </p:sp>
      <p:sp>
        <p:nvSpPr>
          <p:cNvPr id="8" name="r8"/>
          <p:cNvSpPr>
            <a:spLocks noGrp="1"/>
          </p:cNvSpPr>
          <p:nvPr/>
        </p:nvSpPr>
        <p:spPr>
          <a:xfrm>
            <a:off x="502920" y="932688"/>
            <a:ext cx="5547360" cy="55046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9" name="r9"/>
          <p:cNvSpPr>
            <a:spLocks noGrp="1"/>
          </p:cNvSpPr>
          <p:nvPr/>
        </p:nvSpPr>
        <p:spPr>
          <a:xfrm>
            <a:off x="502920" y="932688"/>
            <a:ext cx="5547360" cy="4572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0" name="t10"/>
          <p:cNvSpPr txBox="1">
            <a:spLocks noGrp="1"/>
          </p:cNvSpPr>
          <p:nvPr/>
        </p:nvSpPr>
        <p:spPr>
          <a:xfrm>
            <a:off x="758952" y="1097280"/>
            <a:ext cx="513588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7000" b="1" i="0" dirty="0">
                <a:solidFill>
                  <a:srgbClr val="FFFFFF"/>
                </a:solidFill>
                <a:latin typeface="Sora"/>
              </a:rPr>
              <a:t>Sora</a:t>
            </a:r>
            <a:endParaRPr lang="en-US" dirty="0"/>
          </a:p>
        </p:txBody>
      </p:sp>
      <p:sp>
        <p:nvSpPr>
          <p:cNvPr id="11" name="t11"/>
          <p:cNvSpPr txBox="1">
            <a:spLocks noGrp="1"/>
          </p:cNvSpPr>
          <p:nvPr/>
        </p:nvSpPr>
        <p:spPr>
          <a:xfrm>
            <a:off x="758952" y="2624328"/>
            <a:ext cx="51358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500" b="1" i="0" dirty="0">
                <a:solidFill>
                  <a:srgbClr val="9CD246"/>
                </a:solidFill>
                <a:latin typeface="Sora"/>
              </a:rPr>
              <a:t>Display / Headings</a:t>
            </a:r>
            <a:endParaRPr lang="en-US" dirty="0"/>
          </a:p>
        </p:txBody>
      </p:sp>
      <p:sp>
        <p:nvSpPr>
          <p:cNvPr id="12" name="t12"/>
          <p:cNvSpPr txBox="1">
            <a:spLocks noGrp="1"/>
          </p:cNvSpPr>
          <p:nvPr/>
        </p:nvSpPr>
        <p:spPr>
          <a:xfrm>
            <a:off x="758952" y="3172968"/>
            <a:ext cx="51358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900" b="0" i="0" dirty="0">
                <a:solidFill>
                  <a:srgbClr val="EEF7D9"/>
                </a:solidFill>
                <a:latin typeface="Sora"/>
              </a:rPr>
              <a:t>Aa Bb Cc 1 2 3 ₹ %</a:t>
            </a:r>
            <a:endParaRPr lang="en-US" dirty="0"/>
          </a:p>
        </p:txBody>
      </p:sp>
      <p:sp>
        <p:nvSpPr>
          <p:cNvPr id="13" name="t13"/>
          <p:cNvSpPr txBox="1">
            <a:spLocks noGrp="1"/>
          </p:cNvSpPr>
          <p:nvPr/>
        </p:nvSpPr>
        <p:spPr>
          <a:xfrm>
            <a:off x="758952" y="3767328"/>
            <a:ext cx="51358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ExtraBold 800  ·  Hero, section titles, numerals</a:t>
            </a:r>
            <a:endParaRPr lang="en-US" dirty="0"/>
          </a:p>
        </p:txBody>
      </p:sp>
      <p:sp>
        <p:nvSpPr>
          <p:cNvPr id="14" name="t14"/>
          <p:cNvSpPr txBox="1">
            <a:spLocks noGrp="1"/>
          </p:cNvSpPr>
          <p:nvPr/>
        </p:nvSpPr>
        <p:spPr>
          <a:xfrm>
            <a:off x="758952" y="4224528"/>
            <a:ext cx="51358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Google Fonts — free, open licence</a:t>
            </a:r>
            <a:endParaRPr lang="en-US" dirty="0"/>
          </a:p>
        </p:txBody>
      </p:sp>
      <p:sp>
        <p:nvSpPr>
          <p:cNvPr id="15" name="r15"/>
          <p:cNvSpPr>
            <a:spLocks noGrp="1"/>
          </p:cNvSpPr>
          <p:nvPr/>
        </p:nvSpPr>
        <p:spPr>
          <a:xfrm>
            <a:off x="6160008" y="932688"/>
            <a:ext cx="5547360" cy="5504688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6" name="r16"/>
          <p:cNvSpPr>
            <a:spLocks noGrp="1"/>
          </p:cNvSpPr>
          <p:nvPr/>
        </p:nvSpPr>
        <p:spPr>
          <a:xfrm>
            <a:off x="6160008" y="932688"/>
            <a:ext cx="5547360" cy="45720"/>
          </a:xfrm>
          <a:prstGeom prst="rect">
            <a:avLst/>
          </a:prstGeom>
          <a:solidFill>
            <a:srgbClr val="7BA83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7" name="t17"/>
          <p:cNvSpPr txBox="1">
            <a:spLocks noGrp="1"/>
          </p:cNvSpPr>
          <p:nvPr/>
        </p:nvSpPr>
        <p:spPr>
          <a:xfrm>
            <a:off x="6416040" y="1097280"/>
            <a:ext cx="513588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7000" b="1" i="0" dirty="0">
                <a:solidFill>
                  <a:srgbClr val="FFFFFF"/>
                </a:solidFill>
                <a:latin typeface="Inter"/>
              </a:rPr>
              <a:t>Inter</a:t>
            </a:r>
            <a:endParaRPr lang="en-US" dirty="0"/>
          </a:p>
        </p:txBody>
      </p:sp>
      <p:sp>
        <p:nvSpPr>
          <p:cNvPr id="18" name="t18"/>
          <p:cNvSpPr txBox="1">
            <a:spLocks noGrp="1"/>
          </p:cNvSpPr>
          <p:nvPr/>
        </p:nvSpPr>
        <p:spPr>
          <a:xfrm>
            <a:off x="6416040" y="2624328"/>
            <a:ext cx="51358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500" b="1" i="0" dirty="0">
                <a:solidFill>
                  <a:srgbClr val="9CD246"/>
                </a:solidFill>
                <a:latin typeface="Inter"/>
              </a:rPr>
              <a:t>UI / Body / Labels</a:t>
            </a:r>
            <a:endParaRPr lang="en-US" dirty="0"/>
          </a:p>
        </p:txBody>
      </p:sp>
      <p:sp>
        <p:nvSpPr>
          <p:cNvPr id="19" name="t19"/>
          <p:cNvSpPr txBox="1">
            <a:spLocks noGrp="1"/>
          </p:cNvSpPr>
          <p:nvPr/>
        </p:nvSpPr>
        <p:spPr>
          <a:xfrm>
            <a:off x="6416040" y="3172968"/>
            <a:ext cx="51358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900" b="0" i="0" dirty="0">
                <a:solidFill>
                  <a:srgbClr val="FFFFFF"/>
                </a:solidFill>
                <a:latin typeface="Inter"/>
              </a:rPr>
              <a:t>Aa Bb Cc 1 2 3 ₹ %</a:t>
            </a:r>
            <a:endParaRPr lang="en-US" dirty="0"/>
          </a:p>
        </p:txBody>
      </p:sp>
      <p:sp>
        <p:nvSpPr>
          <p:cNvPr id="20" name="t20"/>
          <p:cNvSpPr txBox="1">
            <a:spLocks noGrp="1"/>
          </p:cNvSpPr>
          <p:nvPr/>
        </p:nvSpPr>
        <p:spPr>
          <a:xfrm>
            <a:off x="6416040" y="3767328"/>
            <a:ext cx="51358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Inter"/>
              </a:rPr>
              <a:t>400 · 500 · 600 · 700  ·  Body, labels, amounts</a:t>
            </a:r>
            <a:endParaRPr lang="en-US" dirty="0"/>
          </a:p>
        </p:txBody>
      </p:sp>
      <p:sp>
        <p:nvSpPr>
          <p:cNvPr id="21" name="t21"/>
          <p:cNvSpPr txBox="1">
            <a:spLocks noGrp="1"/>
          </p:cNvSpPr>
          <p:nvPr/>
        </p:nvSpPr>
        <p:spPr>
          <a:xfrm>
            <a:off x="6416040" y="4224528"/>
            <a:ext cx="51358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Inter"/>
              </a:rPr>
              <a:t>Google Fonts — free, open licence</a:t>
            </a:r>
            <a:endParaRPr lang="en-US" dirty="0"/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43891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t3"/>
          <p:cNvSpPr txBox="1">
            <a:spLocks noGrp="1"/>
          </p:cNvSpPr>
          <p:nvPr/>
        </p:nvSpPr>
        <p:spPr>
          <a:xfrm>
            <a:off x="502920" y="50292"/>
            <a:ext cx="1036320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Sora"/>
              </a:rPr>
              <a:t>03  Typography — Type Scale</a:t>
            </a:r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10911840" y="50292"/>
            <a:ext cx="109728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1300" b="1" i="0" dirty="0">
                <a:solidFill>
                  <a:srgbClr val="9CD246"/>
                </a:solidFill>
                <a:latin typeface="Sora"/>
              </a:rPr>
              <a:t>11</a:t>
            </a:r>
            <a:endParaRPr lang="en-US" dirty="0"/>
          </a:p>
        </p:txBody>
      </p:sp>
      <p:sp>
        <p:nvSpPr>
          <p:cNvPr id="5" name="r5"/>
          <p:cNvSpPr>
            <a:spLocks noGrp="1"/>
          </p:cNvSpPr>
          <p:nvPr/>
        </p:nvSpPr>
        <p:spPr>
          <a:xfrm>
            <a:off x="502920" y="822960"/>
            <a:ext cx="11186160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t6"/>
          <p:cNvSpPr txBox="1">
            <a:spLocks noGrp="1"/>
          </p:cNvSpPr>
          <p:nvPr/>
        </p:nvSpPr>
        <p:spPr>
          <a:xfrm>
            <a:off x="502920" y="65105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 v1.0</a:t>
            </a:r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9906000" y="65105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splitbo.in  ·  splitbo.app</a:t>
            </a:r>
            <a:endParaRPr lang="en-US" dirty="0"/>
          </a:p>
        </p:txBody>
      </p:sp>
      <p:sp>
        <p:nvSpPr>
          <p:cNvPr id="8" name="r8"/>
          <p:cNvSpPr>
            <a:spLocks noGrp="1"/>
          </p:cNvSpPr>
          <p:nvPr/>
        </p:nvSpPr>
        <p:spPr>
          <a:xfrm>
            <a:off x="502920" y="932688"/>
            <a:ext cx="5852160" cy="402336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9" name="t9"/>
          <p:cNvSpPr txBox="1">
            <a:spLocks noGrp="1"/>
          </p:cNvSpPr>
          <p:nvPr/>
        </p:nvSpPr>
        <p:spPr>
          <a:xfrm>
            <a:off x="576072" y="932688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1" i="0" dirty="0">
                <a:solidFill>
                  <a:srgbClr val="000000"/>
                </a:solidFill>
                <a:latin typeface="Sora"/>
              </a:rPr>
              <a:t>Name</a:t>
            </a:r>
            <a:endParaRPr lang="en-US" dirty="0"/>
          </a:p>
        </p:txBody>
      </p:sp>
      <p:sp>
        <p:nvSpPr>
          <p:cNvPr id="10" name="t10"/>
          <p:cNvSpPr txBox="1">
            <a:spLocks noGrp="1"/>
          </p:cNvSpPr>
          <p:nvPr/>
        </p:nvSpPr>
        <p:spPr>
          <a:xfrm>
            <a:off x="1947672" y="932688"/>
            <a:ext cx="6858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1" i="0" dirty="0">
                <a:solidFill>
                  <a:srgbClr val="000000"/>
                </a:solidFill>
                <a:latin typeface="Sora"/>
              </a:rPr>
              <a:t>px</a:t>
            </a:r>
            <a:endParaRPr lang="en-US" dirty="0"/>
          </a:p>
        </p:txBody>
      </p:sp>
      <p:sp>
        <p:nvSpPr>
          <p:cNvPr id="11" name="t11"/>
          <p:cNvSpPr txBox="1">
            <a:spLocks noGrp="1"/>
          </p:cNvSpPr>
          <p:nvPr/>
        </p:nvSpPr>
        <p:spPr>
          <a:xfrm>
            <a:off x="2679192" y="932688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1" i="0" dirty="0">
                <a:solidFill>
                  <a:srgbClr val="000000"/>
                </a:solidFill>
                <a:latin typeface="Sora"/>
              </a:rPr>
              <a:t>Wt</a:t>
            </a:r>
            <a:endParaRPr lang="en-US" dirty="0"/>
          </a:p>
        </p:txBody>
      </p:sp>
      <p:sp>
        <p:nvSpPr>
          <p:cNvPr id="12" name="t12"/>
          <p:cNvSpPr txBox="1">
            <a:spLocks noGrp="1"/>
          </p:cNvSpPr>
          <p:nvPr/>
        </p:nvSpPr>
        <p:spPr>
          <a:xfrm>
            <a:off x="3502152" y="932688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1" i="0" dirty="0">
                <a:solidFill>
                  <a:srgbClr val="000000"/>
                </a:solidFill>
                <a:latin typeface="Sora"/>
              </a:rPr>
              <a:t>Font</a:t>
            </a:r>
            <a:endParaRPr lang="en-US" dirty="0"/>
          </a:p>
        </p:txBody>
      </p:sp>
      <p:sp>
        <p:nvSpPr>
          <p:cNvPr id="13" name="r13"/>
          <p:cNvSpPr>
            <a:spLocks noGrp="1"/>
          </p:cNvSpPr>
          <p:nvPr/>
        </p:nvSpPr>
        <p:spPr>
          <a:xfrm>
            <a:off x="502920" y="1335024"/>
            <a:ext cx="5852160" cy="4023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4" name="r14"/>
          <p:cNvSpPr>
            <a:spLocks noGrp="1"/>
          </p:cNvSpPr>
          <p:nvPr/>
        </p:nvSpPr>
        <p:spPr>
          <a:xfrm>
            <a:off x="502920" y="1335024"/>
            <a:ext cx="36576" cy="402336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5" name="t15"/>
          <p:cNvSpPr txBox="1">
            <a:spLocks noGrp="1"/>
          </p:cNvSpPr>
          <p:nvPr/>
        </p:nvSpPr>
        <p:spPr>
          <a:xfrm>
            <a:off x="576072" y="133502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Sora"/>
              </a:rPr>
              <a:t>Display XL</a:t>
            </a:r>
            <a:endParaRPr lang="en-US" dirty="0"/>
          </a:p>
        </p:txBody>
      </p:sp>
      <p:sp>
        <p:nvSpPr>
          <p:cNvPr id="16" name="t16"/>
          <p:cNvSpPr txBox="1">
            <a:spLocks noGrp="1"/>
          </p:cNvSpPr>
          <p:nvPr/>
        </p:nvSpPr>
        <p:spPr>
          <a:xfrm>
            <a:off x="1947672" y="1335024"/>
            <a:ext cx="6858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9CD246"/>
                </a:solidFill>
                <a:latin typeface="Sora"/>
              </a:rPr>
              <a:t>48</a:t>
            </a:r>
            <a:endParaRPr lang="en-US" dirty="0"/>
          </a:p>
        </p:txBody>
      </p:sp>
      <p:sp>
        <p:nvSpPr>
          <p:cNvPr id="17" name="t17"/>
          <p:cNvSpPr txBox="1">
            <a:spLocks noGrp="1"/>
          </p:cNvSpPr>
          <p:nvPr/>
        </p:nvSpPr>
        <p:spPr>
          <a:xfrm>
            <a:off x="2679192" y="1335024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800</a:t>
            </a:r>
            <a:endParaRPr lang="en-US" dirty="0"/>
          </a:p>
        </p:txBody>
      </p:sp>
      <p:sp>
        <p:nvSpPr>
          <p:cNvPr id="18" name="t18"/>
          <p:cNvSpPr txBox="1">
            <a:spLocks noGrp="1"/>
          </p:cNvSpPr>
          <p:nvPr/>
        </p:nvSpPr>
        <p:spPr>
          <a:xfrm>
            <a:off x="3502152" y="1335024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Sora</a:t>
            </a:r>
            <a:endParaRPr lang="en-US" dirty="0"/>
          </a:p>
        </p:txBody>
      </p:sp>
      <p:sp>
        <p:nvSpPr>
          <p:cNvPr id="19" name="r19"/>
          <p:cNvSpPr>
            <a:spLocks noGrp="1"/>
          </p:cNvSpPr>
          <p:nvPr/>
        </p:nvSpPr>
        <p:spPr>
          <a:xfrm>
            <a:off x="502920" y="1737360"/>
            <a:ext cx="5852160" cy="4023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r20"/>
          <p:cNvSpPr>
            <a:spLocks noGrp="1"/>
          </p:cNvSpPr>
          <p:nvPr/>
        </p:nvSpPr>
        <p:spPr>
          <a:xfrm>
            <a:off x="502920" y="1737360"/>
            <a:ext cx="36576" cy="402336"/>
          </a:xfrm>
          <a:prstGeom prst="rect">
            <a:avLst/>
          </a:prstGeom>
          <a:solidFill>
            <a:srgbClr val="7BA83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1" name="t21"/>
          <p:cNvSpPr txBox="1">
            <a:spLocks noGrp="1"/>
          </p:cNvSpPr>
          <p:nvPr/>
        </p:nvSpPr>
        <p:spPr>
          <a:xfrm>
            <a:off x="576072" y="173736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Sora"/>
              </a:rPr>
              <a:t>Display L</a:t>
            </a:r>
            <a:endParaRPr lang="en-US" dirty="0"/>
          </a:p>
        </p:txBody>
      </p:sp>
      <p:sp>
        <p:nvSpPr>
          <p:cNvPr id="22" name="t22"/>
          <p:cNvSpPr txBox="1">
            <a:spLocks noGrp="1"/>
          </p:cNvSpPr>
          <p:nvPr/>
        </p:nvSpPr>
        <p:spPr>
          <a:xfrm>
            <a:off x="1947672" y="1737360"/>
            <a:ext cx="6858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9CD246"/>
                </a:solidFill>
                <a:latin typeface="Sora"/>
              </a:rPr>
              <a:t>36</a:t>
            </a:r>
            <a:endParaRPr lang="en-US" dirty="0"/>
          </a:p>
        </p:txBody>
      </p:sp>
      <p:sp>
        <p:nvSpPr>
          <p:cNvPr id="23" name="t23"/>
          <p:cNvSpPr txBox="1">
            <a:spLocks noGrp="1"/>
          </p:cNvSpPr>
          <p:nvPr/>
        </p:nvSpPr>
        <p:spPr>
          <a:xfrm>
            <a:off x="2679192" y="1737360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700</a:t>
            </a:r>
            <a:endParaRPr lang="en-US" dirty="0"/>
          </a:p>
        </p:txBody>
      </p:sp>
      <p:sp>
        <p:nvSpPr>
          <p:cNvPr id="24" name="t24"/>
          <p:cNvSpPr txBox="1">
            <a:spLocks noGrp="1"/>
          </p:cNvSpPr>
          <p:nvPr/>
        </p:nvSpPr>
        <p:spPr>
          <a:xfrm>
            <a:off x="3502152" y="1737360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Sora</a:t>
            </a:r>
            <a:endParaRPr lang="en-US" dirty="0"/>
          </a:p>
        </p:txBody>
      </p:sp>
      <p:sp>
        <p:nvSpPr>
          <p:cNvPr id="25" name="r25"/>
          <p:cNvSpPr>
            <a:spLocks noGrp="1"/>
          </p:cNvSpPr>
          <p:nvPr/>
        </p:nvSpPr>
        <p:spPr>
          <a:xfrm>
            <a:off x="502920" y="2139696"/>
            <a:ext cx="5852160" cy="4023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6" name="r26"/>
          <p:cNvSpPr>
            <a:spLocks noGrp="1"/>
          </p:cNvSpPr>
          <p:nvPr/>
        </p:nvSpPr>
        <p:spPr>
          <a:xfrm>
            <a:off x="502920" y="2139696"/>
            <a:ext cx="36576" cy="402336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7" name="t27"/>
          <p:cNvSpPr txBox="1">
            <a:spLocks noGrp="1"/>
          </p:cNvSpPr>
          <p:nvPr/>
        </p:nvSpPr>
        <p:spPr>
          <a:xfrm>
            <a:off x="576072" y="213969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Sora"/>
              </a:rPr>
              <a:t>H1</a:t>
            </a:r>
            <a:endParaRPr lang="en-US" dirty="0"/>
          </a:p>
        </p:txBody>
      </p:sp>
      <p:sp>
        <p:nvSpPr>
          <p:cNvPr id="28" name="t28"/>
          <p:cNvSpPr txBox="1">
            <a:spLocks noGrp="1"/>
          </p:cNvSpPr>
          <p:nvPr/>
        </p:nvSpPr>
        <p:spPr>
          <a:xfrm>
            <a:off x="1947672" y="2139696"/>
            <a:ext cx="6858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9CD246"/>
                </a:solidFill>
                <a:latin typeface="Sora"/>
              </a:rPr>
              <a:t>28</a:t>
            </a:r>
            <a:endParaRPr lang="en-US" dirty="0"/>
          </a:p>
        </p:txBody>
      </p:sp>
      <p:sp>
        <p:nvSpPr>
          <p:cNvPr id="29" name="t29"/>
          <p:cNvSpPr txBox="1">
            <a:spLocks noGrp="1"/>
          </p:cNvSpPr>
          <p:nvPr/>
        </p:nvSpPr>
        <p:spPr>
          <a:xfrm>
            <a:off x="2679192" y="2139696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700</a:t>
            </a:r>
            <a:endParaRPr lang="en-US" dirty="0"/>
          </a:p>
        </p:txBody>
      </p:sp>
      <p:sp>
        <p:nvSpPr>
          <p:cNvPr id="30" name="t30"/>
          <p:cNvSpPr txBox="1">
            <a:spLocks noGrp="1"/>
          </p:cNvSpPr>
          <p:nvPr/>
        </p:nvSpPr>
        <p:spPr>
          <a:xfrm>
            <a:off x="3502152" y="2139696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Sora</a:t>
            </a:r>
            <a:endParaRPr lang="en-US" dirty="0"/>
          </a:p>
        </p:txBody>
      </p:sp>
      <p:sp>
        <p:nvSpPr>
          <p:cNvPr id="31" name="r31"/>
          <p:cNvSpPr>
            <a:spLocks noGrp="1"/>
          </p:cNvSpPr>
          <p:nvPr/>
        </p:nvSpPr>
        <p:spPr>
          <a:xfrm>
            <a:off x="502920" y="2542032"/>
            <a:ext cx="5852160" cy="4023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2" name="r32"/>
          <p:cNvSpPr>
            <a:spLocks noGrp="1"/>
          </p:cNvSpPr>
          <p:nvPr/>
        </p:nvSpPr>
        <p:spPr>
          <a:xfrm>
            <a:off x="502920" y="2542032"/>
            <a:ext cx="36576" cy="402336"/>
          </a:xfrm>
          <a:prstGeom prst="rect">
            <a:avLst/>
          </a:prstGeom>
          <a:solidFill>
            <a:srgbClr val="7BA83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3" name="t33"/>
          <p:cNvSpPr txBox="1">
            <a:spLocks noGrp="1"/>
          </p:cNvSpPr>
          <p:nvPr/>
        </p:nvSpPr>
        <p:spPr>
          <a:xfrm>
            <a:off x="576072" y="254203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Sora"/>
              </a:rPr>
              <a:t>H2</a:t>
            </a:r>
            <a:endParaRPr lang="en-US" dirty="0"/>
          </a:p>
        </p:txBody>
      </p:sp>
      <p:sp>
        <p:nvSpPr>
          <p:cNvPr id="34" name="t34"/>
          <p:cNvSpPr txBox="1">
            <a:spLocks noGrp="1"/>
          </p:cNvSpPr>
          <p:nvPr/>
        </p:nvSpPr>
        <p:spPr>
          <a:xfrm>
            <a:off x="1947672" y="2542032"/>
            <a:ext cx="6858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9CD246"/>
                </a:solidFill>
                <a:latin typeface="Sora"/>
              </a:rPr>
              <a:t>22</a:t>
            </a:r>
            <a:endParaRPr lang="en-US" dirty="0"/>
          </a:p>
        </p:txBody>
      </p:sp>
      <p:sp>
        <p:nvSpPr>
          <p:cNvPr id="35" name="t35"/>
          <p:cNvSpPr txBox="1">
            <a:spLocks noGrp="1"/>
          </p:cNvSpPr>
          <p:nvPr/>
        </p:nvSpPr>
        <p:spPr>
          <a:xfrm>
            <a:off x="2679192" y="2542032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600</a:t>
            </a:r>
            <a:endParaRPr lang="en-US" dirty="0"/>
          </a:p>
        </p:txBody>
      </p:sp>
      <p:sp>
        <p:nvSpPr>
          <p:cNvPr id="36" name="t36"/>
          <p:cNvSpPr txBox="1">
            <a:spLocks noGrp="1"/>
          </p:cNvSpPr>
          <p:nvPr/>
        </p:nvSpPr>
        <p:spPr>
          <a:xfrm>
            <a:off x="3502152" y="2542032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Sora</a:t>
            </a:r>
            <a:endParaRPr lang="en-US" dirty="0"/>
          </a:p>
        </p:txBody>
      </p:sp>
      <p:sp>
        <p:nvSpPr>
          <p:cNvPr id="37" name="r37"/>
          <p:cNvSpPr>
            <a:spLocks noGrp="1"/>
          </p:cNvSpPr>
          <p:nvPr/>
        </p:nvSpPr>
        <p:spPr>
          <a:xfrm>
            <a:off x="502920" y="2944368"/>
            <a:ext cx="5852160" cy="4023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8" name="r38"/>
          <p:cNvSpPr>
            <a:spLocks noGrp="1"/>
          </p:cNvSpPr>
          <p:nvPr/>
        </p:nvSpPr>
        <p:spPr>
          <a:xfrm>
            <a:off x="502920" y="2944368"/>
            <a:ext cx="36576" cy="402336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9" name="t39"/>
          <p:cNvSpPr txBox="1">
            <a:spLocks noGrp="1"/>
          </p:cNvSpPr>
          <p:nvPr/>
        </p:nvSpPr>
        <p:spPr>
          <a:xfrm>
            <a:off x="576072" y="2944368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Sora"/>
              </a:rPr>
              <a:t>H3</a:t>
            </a:r>
            <a:endParaRPr lang="en-US" dirty="0"/>
          </a:p>
        </p:txBody>
      </p:sp>
      <p:sp>
        <p:nvSpPr>
          <p:cNvPr id="40" name="t40"/>
          <p:cNvSpPr txBox="1">
            <a:spLocks noGrp="1"/>
          </p:cNvSpPr>
          <p:nvPr/>
        </p:nvSpPr>
        <p:spPr>
          <a:xfrm>
            <a:off x="1947672" y="2944368"/>
            <a:ext cx="6858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9CD246"/>
                </a:solidFill>
                <a:latin typeface="Sora"/>
              </a:rPr>
              <a:t>18</a:t>
            </a:r>
            <a:endParaRPr lang="en-US" dirty="0"/>
          </a:p>
        </p:txBody>
      </p:sp>
      <p:sp>
        <p:nvSpPr>
          <p:cNvPr id="41" name="t41"/>
          <p:cNvSpPr txBox="1">
            <a:spLocks noGrp="1"/>
          </p:cNvSpPr>
          <p:nvPr/>
        </p:nvSpPr>
        <p:spPr>
          <a:xfrm>
            <a:off x="2679192" y="2944368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600</a:t>
            </a:r>
            <a:endParaRPr lang="en-US" dirty="0"/>
          </a:p>
        </p:txBody>
      </p:sp>
      <p:sp>
        <p:nvSpPr>
          <p:cNvPr id="42" name="t42"/>
          <p:cNvSpPr txBox="1">
            <a:spLocks noGrp="1"/>
          </p:cNvSpPr>
          <p:nvPr/>
        </p:nvSpPr>
        <p:spPr>
          <a:xfrm>
            <a:off x="3502152" y="2944368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Inter</a:t>
            </a:r>
            <a:endParaRPr lang="en-US" dirty="0"/>
          </a:p>
        </p:txBody>
      </p:sp>
      <p:sp>
        <p:nvSpPr>
          <p:cNvPr id="43" name="r43"/>
          <p:cNvSpPr>
            <a:spLocks noGrp="1"/>
          </p:cNvSpPr>
          <p:nvPr/>
        </p:nvSpPr>
        <p:spPr>
          <a:xfrm>
            <a:off x="502920" y="3346704"/>
            <a:ext cx="5852160" cy="4023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4" name="r44"/>
          <p:cNvSpPr>
            <a:spLocks noGrp="1"/>
          </p:cNvSpPr>
          <p:nvPr/>
        </p:nvSpPr>
        <p:spPr>
          <a:xfrm>
            <a:off x="502920" y="3346704"/>
            <a:ext cx="36576" cy="402336"/>
          </a:xfrm>
          <a:prstGeom prst="rect">
            <a:avLst/>
          </a:prstGeom>
          <a:solidFill>
            <a:srgbClr val="7BA83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5" name="t45"/>
          <p:cNvSpPr txBox="1">
            <a:spLocks noGrp="1"/>
          </p:cNvSpPr>
          <p:nvPr/>
        </p:nvSpPr>
        <p:spPr>
          <a:xfrm>
            <a:off x="576072" y="334670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Sora"/>
              </a:rPr>
              <a:t>Body L</a:t>
            </a:r>
            <a:endParaRPr lang="en-US" dirty="0"/>
          </a:p>
        </p:txBody>
      </p:sp>
      <p:sp>
        <p:nvSpPr>
          <p:cNvPr id="46" name="t46"/>
          <p:cNvSpPr txBox="1">
            <a:spLocks noGrp="1"/>
          </p:cNvSpPr>
          <p:nvPr/>
        </p:nvSpPr>
        <p:spPr>
          <a:xfrm>
            <a:off x="1947672" y="3346704"/>
            <a:ext cx="6858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9CD246"/>
                </a:solidFill>
                <a:latin typeface="Sora"/>
              </a:rPr>
              <a:t>16</a:t>
            </a:r>
            <a:endParaRPr lang="en-US" dirty="0"/>
          </a:p>
        </p:txBody>
      </p:sp>
      <p:sp>
        <p:nvSpPr>
          <p:cNvPr id="47" name="t47"/>
          <p:cNvSpPr txBox="1">
            <a:spLocks noGrp="1"/>
          </p:cNvSpPr>
          <p:nvPr/>
        </p:nvSpPr>
        <p:spPr>
          <a:xfrm>
            <a:off x="2679192" y="3346704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400</a:t>
            </a:r>
            <a:endParaRPr lang="en-US" dirty="0"/>
          </a:p>
        </p:txBody>
      </p:sp>
      <p:sp>
        <p:nvSpPr>
          <p:cNvPr id="48" name="t48"/>
          <p:cNvSpPr txBox="1">
            <a:spLocks noGrp="1"/>
          </p:cNvSpPr>
          <p:nvPr/>
        </p:nvSpPr>
        <p:spPr>
          <a:xfrm>
            <a:off x="3502152" y="3346704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Inter</a:t>
            </a:r>
            <a:endParaRPr lang="en-US" dirty="0"/>
          </a:p>
        </p:txBody>
      </p:sp>
      <p:sp>
        <p:nvSpPr>
          <p:cNvPr id="49" name="r49"/>
          <p:cNvSpPr>
            <a:spLocks noGrp="1"/>
          </p:cNvSpPr>
          <p:nvPr/>
        </p:nvSpPr>
        <p:spPr>
          <a:xfrm>
            <a:off x="502920" y="3749040"/>
            <a:ext cx="5852160" cy="4023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0" name="r50"/>
          <p:cNvSpPr>
            <a:spLocks noGrp="1"/>
          </p:cNvSpPr>
          <p:nvPr/>
        </p:nvSpPr>
        <p:spPr>
          <a:xfrm>
            <a:off x="502920" y="3749040"/>
            <a:ext cx="36576" cy="402336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1" name="t51"/>
          <p:cNvSpPr txBox="1">
            <a:spLocks noGrp="1"/>
          </p:cNvSpPr>
          <p:nvPr/>
        </p:nvSpPr>
        <p:spPr>
          <a:xfrm>
            <a:off x="576072" y="374904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Sora"/>
              </a:rPr>
              <a:t>Body M</a:t>
            </a:r>
            <a:endParaRPr lang="en-US" dirty="0"/>
          </a:p>
        </p:txBody>
      </p:sp>
      <p:sp>
        <p:nvSpPr>
          <p:cNvPr id="52" name="t52"/>
          <p:cNvSpPr txBox="1">
            <a:spLocks noGrp="1"/>
          </p:cNvSpPr>
          <p:nvPr/>
        </p:nvSpPr>
        <p:spPr>
          <a:xfrm>
            <a:off x="1947672" y="3749040"/>
            <a:ext cx="6858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9CD246"/>
                </a:solidFill>
                <a:latin typeface="Sora"/>
              </a:rPr>
              <a:t>14</a:t>
            </a:r>
            <a:endParaRPr lang="en-US" dirty="0"/>
          </a:p>
        </p:txBody>
      </p:sp>
      <p:sp>
        <p:nvSpPr>
          <p:cNvPr id="53" name="t53"/>
          <p:cNvSpPr txBox="1">
            <a:spLocks noGrp="1"/>
          </p:cNvSpPr>
          <p:nvPr/>
        </p:nvSpPr>
        <p:spPr>
          <a:xfrm>
            <a:off x="2679192" y="3749040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400</a:t>
            </a:r>
            <a:endParaRPr lang="en-US" dirty="0"/>
          </a:p>
        </p:txBody>
      </p:sp>
      <p:sp>
        <p:nvSpPr>
          <p:cNvPr id="54" name="t54"/>
          <p:cNvSpPr txBox="1">
            <a:spLocks noGrp="1"/>
          </p:cNvSpPr>
          <p:nvPr/>
        </p:nvSpPr>
        <p:spPr>
          <a:xfrm>
            <a:off x="3502152" y="3749040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Inter</a:t>
            </a:r>
            <a:endParaRPr lang="en-US" dirty="0"/>
          </a:p>
        </p:txBody>
      </p:sp>
      <p:sp>
        <p:nvSpPr>
          <p:cNvPr id="55" name="r55"/>
          <p:cNvSpPr>
            <a:spLocks noGrp="1"/>
          </p:cNvSpPr>
          <p:nvPr/>
        </p:nvSpPr>
        <p:spPr>
          <a:xfrm>
            <a:off x="502920" y="4151376"/>
            <a:ext cx="5852160" cy="4023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6" name="r56"/>
          <p:cNvSpPr>
            <a:spLocks noGrp="1"/>
          </p:cNvSpPr>
          <p:nvPr/>
        </p:nvSpPr>
        <p:spPr>
          <a:xfrm>
            <a:off x="502920" y="4151376"/>
            <a:ext cx="36576" cy="402336"/>
          </a:xfrm>
          <a:prstGeom prst="rect">
            <a:avLst/>
          </a:prstGeom>
          <a:solidFill>
            <a:srgbClr val="7BA83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57" name="t57"/>
          <p:cNvSpPr txBox="1">
            <a:spLocks noGrp="1"/>
          </p:cNvSpPr>
          <p:nvPr/>
        </p:nvSpPr>
        <p:spPr>
          <a:xfrm>
            <a:off x="576072" y="415137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Sora"/>
              </a:rPr>
              <a:t>Label</a:t>
            </a:r>
            <a:endParaRPr lang="en-US" dirty="0"/>
          </a:p>
        </p:txBody>
      </p:sp>
      <p:sp>
        <p:nvSpPr>
          <p:cNvPr id="58" name="t58"/>
          <p:cNvSpPr txBox="1">
            <a:spLocks noGrp="1"/>
          </p:cNvSpPr>
          <p:nvPr/>
        </p:nvSpPr>
        <p:spPr>
          <a:xfrm>
            <a:off x="1947672" y="4151376"/>
            <a:ext cx="6858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9CD246"/>
                </a:solidFill>
                <a:latin typeface="Sora"/>
              </a:rPr>
              <a:t>13</a:t>
            </a:r>
            <a:endParaRPr lang="en-US" dirty="0"/>
          </a:p>
        </p:txBody>
      </p:sp>
      <p:sp>
        <p:nvSpPr>
          <p:cNvPr id="59" name="t59"/>
          <p:cNvSpPr txBox="1">
            <a:spLocks noGrp="1"/>
          </p:cNvSpPr>
          <p:nvPr/>
        </p:nvSpPr>
        <p:spPr>
          <a:xfrm>
            <a:off x="2679192" y="4151376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500</a:t>
            </a:r>
            <a:endParaRPr lang="en-US" dirty="0"/>
          </a:p>
        </p:txBody>
      </p:sp>
      <p:sp>
        <p:nvSpPr>
          <p:cNvPr id="60" name="t60"/>
          <p:cNvSpPr txBox="1">
            <a:spLocks noGrp="1"/>
          </p:cNvSpPr>
          <p:nvPr/>
        </p:nvSpPr>
        <p:spPr>
          <a:xfrm>
            <a:off x="3502152" y="4151376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Inter</a:t>
            </a:r>
            <a:endParaRPr lang="en-US" dirty="0"/>
          </a:p>
        </p:txBody>
      </p:sp>
      <p:sp>
        <p:nvSpPr>
          <p:cNvPr id="61" name="r61"/>
          <p:cNvSpPr>
            <a:spLocks noGrp="1"/>
          </p:cNvSpPr>
          <p:nvPr/>
        </p:nvSpPr>
        <p:spPr>
          <a:xfrm>
            <a:off x="502920" y="4553712"/>
            <a:ext cx="5852160" cy="4023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2" name="r62"/>
          <p:cNvSpPr>
            <a:spLocks noGrp="1"/>
          </p:cNvSpPr>
          <p:nvPr/>
        </p:nvSpPr>
        <p:spPr>
          <a:xfrm>
            <a:off x="502920" y="4553712"/>
            <a:ext cx="36576" cy="402336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3" name="t63"/>
          <p:cNvSpPr txBox="1">
            <a:spLocks noGrp="1"/>
          </p:cNvSpPr>
          <p:nvPr/>
        </p:nvSpPr>
        <p:spPr>
          <a:xfrm>
            <a:off x="576072" y="455371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1" i="0" dirty="0">
                <a:solidFill>
                  <a:srgbClr val="FFFFFF"/>
                </a:solidFill>
                <a:latin typeface="Sora"/>
              </a:rPr>
              <a:t>Caption</a:t>
            </a:r>
            <a:endParaRPr lang="en-US" dirty="0"/>
          </a:p>
        </p:txBody>
      </p:sp>
      <p:sp>
        <p:nvSpPr>
          <p:cNvPr id="64" name="t64"/>
          <p:cNvSpPr txBox="1">
            <a:spLocks noGrp="1"/>
          </p:cNvSpPr>
          <p:nvPr/>
        </p:nvSpPr>
        <p:spPr>
          <a:xfrm>
            <a:off x="1947672" y="4553712"/>
            <a:ext cx="6858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9CD246"/>
                </a:solidFill>
                <a:latin typeface="Sora"/>
              </a:rPr>
              <a:t>11</a:t>
            </a:r>
            <a:endParaRPr lang="en-US" dirty="0"/>
          </a:p>
        </p:txBody>
      </p:sp>
      <p:sp>
        <p:nvSpPr>
          <p:cNvPr id="65" name="t65"/>
          <p:cNvSpPr txBox="1">
            <a:spLocks noGrp="1"/>
          </p:cNvSpPr>
          <p:nvPr/>
        </p:nvSpPr>
        <p:spPr>
          <a:xfrm>
            <a:off x="2679192" y="4553712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400</a:t>
            </a:r>
            <a:endParaRPr lang="en-US" dirty="0"/>
          </a:p>
        </p:txBody>
      </p:sp>
      <p:sp>
        <p:nvSpPr>
          <p:cNvPr id="66" name="t66"/>
          <p:cNvSpPr txBox="1">
            <a:spLocks noGrp="1"/>
          </p:cNvSpPr>
          <p:nvPr/>
        </p:nvSpPr>
        <p:spPr>
          <a:xfrm>
            <a:off x="3502152" y="4553712"/>
            <a:ext cx="77724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666666"/>
                </a:solidFill>
                <a:latin typeface="Sora"/>
              </a:rPr>
              <a:t>Inter</a:t>
            </a:r>
            <a:endParaRPr lang="en-US" dirty="0"/>
          </a:p>
        </p:txBody>
      </p:sp>
      <p:sp>
        <p:nvSpPr>
          <p:cNvPr id="67" name="r67"/>
          <p:cNvSpPr>
            <a:spLocks noGrp="1"/>
          </p:cNvSpPr>
          <p:nvPr/>
        </p:nvSpPr>
        <p:spPr>
          <a:xfrm>
            <a:off x="6537960" y="932688"/>
            <a:ext cx="5151120" cy="55046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8" name="r68"/>
          <p:cNvSpPr>
            <a:spLocks noGrp="1"/>
          </p:cNvSpPr>
          <p:nvPr/>
        </p:nvSpPr>
        <p:spPr>
          <a:xfrm>
            <a:off x="6537960" y="932688"/>
            <a:ext cx="45720" cy="5504688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9" name="t69"/>
          <p:cNvSpPr txBox="1">
            <a:spLocks noGrp="1"/>
          </p:cNvSpPr>
          <p:nvPr/>
        </p:nvSpPr>
        <p:spPr>
          <a:xfrm>
            <a:off x="6720840" y="1024128"/>
            <a:ext cx="487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100" b="1" i="0" dirty="0">
                <a:solidFill>
                  <a:srgbClr val="666666"/>
                </a:solidFill>
                <a:latin typeface="Sora"/>
              </a:rPr>
              <a:t>Type Specimens</a:t>
            </a:r>
            <a:endParaRPr lang="en-US" dirty="0"/>
          </a:p>
        </p:txBody>
      </p:sp>
      <p:sp>
        <p:nvSpPr>
          <p:cNvPr id="70" name="t70"/>
          <p:cNvSpPr txBox="1">
            <a:spLocks noGrp="1"/>
          </p:cNvSpPr>
          <p:nvPr/>
        </p:nvSpPr>
        <p:spPr>
          <a:xfrm>
            <a:off x="6720840" y="1527048"/>
            <a:ext cx="4876800" cy="804672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4800" b="1" i="0" dirty="0">
                <a:solidFill>
                  <a:srgbClr val="9CD246"/>
                </a:solidFill>
                <a:latin typeface="Sora"/>
              </a:rPr>
              <a:t>splitbo</a:t>
            </a:r>
            <a:endParaRPr lang="en-US" dirty="0"/>
          </a:p>
        </p:txBody>
      </p:sp>
      <p:sp>
        <p:nvSpPr>
          <p:cNvPr id="71" name="t71"/>
          <p:cNvSpPr txBox="1">
            <a:spLocks noGrp="1"/>
          </p:cNvSpPr>
          <p:nvPr/>
        </p:nvSpPr>
        <p:spPr>
          <a:xfrm>
            <a:off x="6720840" y="2386584"/>
            <a:ext cx="4876800" cy="603504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Sora"/>
              </a:rPr>
              <a:t>Split bills.</a:t>
            </a:r>
            <a:endParaRPr lang="en-US" dirty="0"/>
          </a:p>
        </p:txBody>
      </p:sp>
      <p:sp>
        <p:nvSpPr>
          <p:cNvPr id="72" name="t72"/>
          <p:cNvSpPr txBox="1">
            <a:spLocks noGrp="1"/>
          </p:cNvSpPr>
          <p:nvPr/>
        </p:nvSpPr>
        <p:spPr>
          <a:xfrm>
            <a:off x="6720840" y="3044952"/>
            <a:ext cx="48768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Sora"/>
              </a:rPr>
              <a:t>Section Header</a:t>
            </a:r>
            <a:endParaRPr lang="en-US" dirty="0"/>
          </a:p>
        </p:txBody>
      </p:sp>
      <p:sp>
        <p:nvSpPr>
          <p:cNvPr id="73" name="t73"/>
          <p:cNvSpPr txBox="1">
            <a:spLocks noGrp="1"/>
          </p:cNvSpPr>
          <p:nvPr/>
        </p:nvSpPr>
        <p:spPr>
          <a:xfrm>
            <a:off x="6720840" y="3575304"/>
            <a:ext cx="48768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400" b="0" i="0" dirty="0">
                <a:solidFill>
                  <a:srgbClr val="999999"/>
                </a:solidFill>
                <a:latin typeface="Inter"/>
              </a:rPr>
              <a:t>Body text — clear at any size.</a:t>
            </a:r>
            <a:endParaRPr lang="en-US" dirty="0"/>
          </a:p>
        </p:txBody>
      </p:sp>
      <p:sp>
        <p:nvSpPr>
          <p:cNvPr id="74" name="t74"/>
          <p:cNvSpPr txBox="1">
            <a:spLocks noGrp="1"/>
          </p:cNvSpPr>
          <p:nvPr/>
        </p:nvSpPr>
        <p:spPr>
          <a:xfrm>
            <a:off x="6720840" y="4050792"/>
            <a:ext cx="48768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100" b="0" i="0" dirty="0">
                <a:solidFill>
                  <a:srgbClr val="666666"/>
                </a:solidFill>
                <a:latin typeface="Inter"/>
              </a:rPr>
              <a:t>Caption  ·  Sep 2026  ·  ₹1,500</a:t>
            </a:r>
            <a:endParaRPr lang="en-US" dirty="0"/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r3"/>
          <p:cNvSpPr>
            <a:spLocks noGrp="1"/>
          </p:cNvSpPr>
          <p:nvPr/>
        </p:nvSpPr>
        <p:spPr>
          <a:xfrm>
            <a:off x="0" y="0"/>
            <a:ext cx="4632960" cy="685800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0" y="0"/>
            <a:ext cx="463296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12000" b="1" i="0" dirty="0">
                <a:solidFill>
                  <a:srgbClr val="000000"/>
                </a:solidFill>
                <a:latin typeface="Sora"/>
              </a:rPr>
              <a:t>04</a:t>
            </a:r>
            <a:endParaRPr lang="en-US" dirty="0"/>
          </a:p>
        </p:txBody>
      </p:sp>
      <p:sp>
        <p:nvSpPr>
          <p:cNvPr id="5" name="t5"/>
          <p:cNvSpPr txBox="1">
            <a:spLocks noGrp="1"/>
          </p:cNvSpPr>
          <p:nvPr/>
        </p:nvSpPr>
        <p:spPr>
          <a:xfrm>
            <a:off x="5090160" y="1714500"/>
            <a:ext cx="69646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</a:t>
            </a:r>
            <a:endParaRPr lang="en-US" dirty="0"/>
          </a:p>
        </p:txBody>
      </p:sp>
      <p:sp>
        <p:nvSpPr>
          <p:cNvPr id="6" name="r6"/>
          <p:cNvSpPr>
            <a:spLocks noGrp="1"/>
          </p:cNvSpPr>
          <p:nvPr/>
        </p:nvSpPr>
        <p:spPr>
          <a:xfrm>
            <a:off x="5090160" y="2606040"/>
            <a:ext cx="548640" cy="2926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5090160" y="2880360"/>
            <a:ext cx="696468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4000" b="1" i="0" dirty="0">
                <a:solidFill>
                  <a:srgbClr val="FFFFFF"/>
                </a:solidFill>
                <a:latin typeface="Sora"/>
              </a:rPr>
              <a:t>Logo &amp; Wordmark</a:t>
            </a:r>
            <a:endParaRPr lang="en-US" dirty="0"/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43891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t3"/>
          <p:cNvSpPr txBox="1">
            <a:spLocks noGrp="1"/>
          </p:cNvSpPr>
          <p:nvPr/>
        </p:nvSpPr>
        <p:spPr>
          <a:xfrm>
            <a:off x="502920" y="50292"/>
            <a:ext cx="1036320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Sora"/>
              </a:rPr>
              <a:t>04  Logo &amp; Wordmark</a:t>
            </a:r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10911840" y="50292"/>
            <a:ext cx="109728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1300" b="1" i="0" dirty="0">
                <a:solidFill>
                  <a:srgbClr val="9CD246"/>
                </a:solidFill>
                <a:latin typeface="Sora"/>
              </a:rPr>
              <a:t>13</a:t>
            </a:r>
            <a:endParaRPr lang="en-US" dirty="0"/>
          </a:p>
        </p:txBody>
      </p:sp>
      <p:sp>
        <p:nvSpPr>
          <p:cNvPr id="5" name="r5"/>
          <p:cNvSpPr>
            <a:spLocks noGrp="1"/>
          </p:cNvSpPr>
          <p:nvPr/>
        </p:nvSpPr>
        <p:spPr>
          <a:xfrm>
            <a:off x="502920" y="822960"/>
            <a:ext cx="11186160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t6"/>
          <p:cNvSpPr txBox="1">
            <a:spLocks noGrp="1"/>
          </p:cNvSpPr>
          <p:nvPr/>
        </p:nvSpPr>
        <p:spPr>
          <a:xfrm>
            <a:off x="502920" y="65105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 v1.0</a:t>
            </a:r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9906000" y="65105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splitbo.in  ·  splitbo.app</a:t>
            </a:r>
            <a:endParaRPr lang="en-US" dirty="0"/>
          </a:p>
        </p:txBody>
      </p:sp>
      <p:sp>
        <p:nvSpPr>
          <p:cNvPr id="8" name="r8"/>
          <p:cNvSpPr>
            <a:spLocks noGrp="1"/>
          </p:cNvSpPr>
          <p:nvPr/>
        </p:nvSpPr>
        <p:spPr>
          <a:xfrm>
            <a:off x="502920" y="932688"/>
            <a:ext cx="5547360" cy="5504688"/>
          </a:xfrm>
          <a:prstGeom prst="rect">
            <a:avLst/>
          </a:prstGeom>
          <a:solidFill>
            <a:srgbClr val="000000"/>
          </a:solidFill>
          <a:ln w="9525">
            <a:solidFill>
              <a:srgbClr val="222222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9" name="r9"/>
          <p:cNvSpPr>
            <a:spLocks noGrp="1"/>
          </p:cNvSpPr>
          <p:nvPr/>
        </p:nvSpPr>
        <p:spPr>
          <a:xfrm>
            <a:off x="502920" y="932688"/>
            <a:ext cx="5547360" cy="4572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0" name="rr10"/>
          <p:cNvSpPr>
            <a:spLocks noGrp="1"/>
          </p:cNvSpPr>
          <p:nvPr/>
        </p:nvSpPr>
        <p:spPr>
          <a:xfrm>
            <a:off x="2682240" y="1133856"/>
            <a:ext cx="1188720" cy="1188720"/>
          </a:xfrm>
          <a:prstGeom prst="roundRect">
            <a:avLst>
              <a:gd name="adj" fmla="val 13000"/>
            </a:avLst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2682240" y="1133856"/>
            <a:ext cx="1188720" cy="36576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2" name="t12"/>
          <p:cNvSpPr txBox="1">
            <a:spLocks noGrp="1"/>
          </p:cNvSpPr>
          <p:nvPr/>
        </p:nvSpPr>
        <p:spPr>
          <a:xfrm>
            <a:off x="2682240" y="1133856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5900" b="1" i="0" dirty="0">
                <a:solidFill>
                  <a:srgbClr val="9CD246"/>
                </a:solidFill>
                <a:latin typeface="Sora"/>
              </a:rPr>
              <a:t>%</a:t>
            </a:r>
            <a:endParaRPr lang="en-US" dirty="0"/>
          </a:p>
        </p:txBody>
      </p:sp>
      <p:sp>
        <p:nvSpPr>
          <p:cNvPr id="13" name="t13"/>
          <p:cNvSpPr txBox="1">
            <a:spLocks noGrp="1"/>
          </p:cNvSpPr>
          <p:nvPr/>
        </p:nvSpPr>
        <p:spPr>
          <a:xfrm>
            <a:off x="502920" y="2505456"/>
            <a:ext cx="5547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4000" b="1" i="0" dirty="0">
                <a:solidFill>
                  <a:srgbClr val="FFFFFF"/>
                </a:solidFill>
                <a:latin typeface="Sora"/>
              </a:rPr>
              <a:t>Split</a:t>
            </a:r>
            <a:r>
              <a:rPr lang="en-US" sz="4000" b="1" i="0" dirty="0">
                <a:solidFill>
                  <a:srgbClr val="9CD246"/>
                </a:solidFill>
                <a:latin typeface="Sora"/>
              </a:rPr>
              <a:t>Bo</a:t>
            </a:r>
            <a:endParaRPr lang="en-US" dirty="0"/>
          </a:p>
        </p:txBody>
      </p:sp>
      <p:sp>
        <p:nvSpPr>
          <p:cNvPr id="14" name="r14"/>
          <p:cNvSpPr>
            <a:spLocks noGrp="1"/>
          </p:cNvSpPr>
          <p:nvPr/>
        </p:nvSpPr>
        <p:spPr>
          <a:xfrm>
            <a:off x="868680" y="3566160"/>
            <a:ext cx="4815840" cy="914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5" name="t15"/>
          <p:cNvSpPr txBox="1">
            <a:spLocks noGrp="1"/>
          </p:cNvSpPr>
          <p:nvPr/>
        </p:nvSpPr>
        <p:spPr>
          <a:xfrm>
            <a:off x="667512" y="3721608"/>
            <a:ext cx="5218176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c"/>
            <a:r>
              <a:rPr lang="en-US" sz="1300" b="1" i="0" dirty="0">
                <a:solidFill>
                  <a:srgbClr val="FFFFFF"/>
                </a:solidFill>
                <a:latin typeface="Sora"/>
              </a:rPr>
              <a:t>Primary — Dark Background</a:t>
            </a:r>
            <a:endParaRPr lang="en-US" dirty="0"/>
          </a:p>
        </p:txBody>
      </p:sp>
      <p:sp>
        <p:nvSpPr>
          <p:cNvPr id="16" name="t16"/>
          <p:cNvSpPr txBox="1">
            <a:spLocks noGrp="1"/>
          </p:cNvSpPr>
          <p:nvPr/>
        </p:nvSpPr>
        <p:spPr>
          <a:xfrm>
            <a:off x="667512" y="4206240"/>
            <a:ext cx="5218176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c"/>
            <a:r>
              <a:rPr lang="en-US" sz="1200" b="0" i="1" dirty="0">
                <a:solidFill>
                  <a:srgbClr val="666666"/>
                </a:solidFill>
                <a:latin typeface="Sora"/>
              </a:rPr>
              <a:t>White + Green two-tone wordmark</a:t>
            </a:r>
            <a:endParaRPr lang="en-US" dirty="0"/>
          </a:p>
        </p:txBody>
      </p:sp>
      <p:sp>
        <p:nvSpPr>
          <p:cNvPr id="17" name="r17"/>
          <p:cNvSpPr>
            <a:spLocks noGrp="1"/>
          </p:cNvSpPr>
          <p:nvPr/>
        </p:nvSpPr>
        <p:spPr>
          <a:xfrm>
            <a:off x="6160008" y="932688"/>
            <a:ext cx="5547360" cy="5504688"/>
          </a:xfrm>
          <a:prstGeom prst="rect">
            <a:avLst/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8" name="r18"/>
          <p:cNvSpPr>
            <a:spLocks noGrp="1"/>
          </p:cNvSpPr>
          <p:nvPr/>
        </p:nvSpPr>
        <p:spPr>
          <a:xfrm>
            <a:off x="6160008" y="932688"/>
            <a:ext cx="5547360" cy="4572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9" name="rr19"/>
          <p:cNvSpPr>
            <a:spLocks noGrp="1"/>
          </p:cNvSpPr>
          <p:nvPr/>
        </p:nvSpPr>
        <p:spPr>
          <a:xfrm>
            <a:off x="8339328" y="1133856"/>
            <a:ext cx="1188720" cy="1188720"/>
          </a:xfrm>
          <a:prstGeom prst="roundRect">
            <a:avLst>
              <a:gd name="adj" fmla="val 13000"/>
            </a:avLst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r20"/>
          <p:cNvSpPr>
            <a:spLocks noGrp="1"/>
          </p:cNvSpPr>
          <p:nvPr/>
        </p:nvSpPr>
        <p:spPr>
          <a:xfrm>
            <a:off x="8339328" y="1133856"/>
            <a:ext cx="1188720" cy="36576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1" name="t21"/>
          <p:cNvSpPr txBox="1">
            <a:spLocks noGrp="1"/>
          </p:cNvSpPr>
          <p:nvPr/>
        </p:nvSpPr>
        <p:spPr>
          <a:xfrm>
            <a:off x="8339328" y="1133856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5900" b="1" i="0" dirty="0">
                <a:solidFill>
                  <a:srgbClr val="9CD246"/>
                </a:solidFill>
                <a:latin typeface="Sora"/>
              </a:rPr>
              <a:t>%</a:t>
            </a:r>
            <a:endParaRPr lang="en-US" dirty="0"/>
          </a:p>
        </p:txBody>
      </p:sp>
      <p:sp>
        <p:nvSpPr>
          <p:cNvPr id="22" name="t22"/>
          <p:cNvSpPr txBox="1">
            <a:spLocks noGrp="1"/>
          </p:cNvSpPr>
          <p:nvPr/>
        </p:nvSpPr>
        <p:spPr>
          <a:xfrm>
            <a:off x="6160008" y="2505456"/>
            <a:ext cx="5547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4000" b="1" i="0" dirty="0">
                <a:solidFill>
                  <a:srgbClr val="0D0D0D"/>
                </a:solidFill>
                <a:latin typeface="Sora"/>
              </a:rPr>
              <a:t>Split</a:t>
            </a:r>
            <a:r>
              <a:rPr lang="en-US" sz="4000" b="1" i="0" dirty="0">
                <a:solidFill>
                  <a:srgbClr val="9CD246"/>
                </a:solidFill>
                <a:latin typeface="Sora"/>
              </a:rPr>
              <a:t>Bo</a:t>
            </a:r>
            <a:endParaRPr lang="en-US" dirty="0"/>
          </a:p>
        </p:txBody>
      </p:sp>
      <p:sp>
        <p:nvSpPr>
          <p:cNvPr id="23" name="r23"/>
          <p:cNvSpPr>
            <a:spLocks noGrp="1"/>
          </p:cNvSpPr>
          <p:nvPr/>
        </p:nvSpPr>
        <p:spPr>
          <a:xfrm>
            <a:off x="6525768" y="3566160"/>
            <a:ext cx="481584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4" name="t24"/>
          <p:cNvSpPr txBox="1">
            <a:spLocks noGrp="1"/>
          </p:cNvSpPr>
          <p:nvPr/>
        </p:nvSpPr>
        <p:spPr>
          <a:xfrm>
            <a:off x="6324600" y="3721608"/>
            <a:ext cx="5218176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c"/>
            <a:r>
              <a:rPr lang="en-US" sz="1300" b="1" i="0" dirty="0">
                <a:solidFill>
                  <a:srgbClr val="0D0D0D"/>
                </a:solidFill>
                <a:latin typeface="Sora"/>
              </a:rPr>
              <a:t>Reversed — Light Background</a:t>
            </a:r>
            <a:endParaRPr lang="en-US" dirty="0"/>
          </a:p>
        </p:txBody>
      </p:sp>
      <p:sp>
        <p:nvSpPr>
          <p:cNvPr id="25" name="t25"/>
          <p:cNvSpPr txBox="1">
            <a:spLocks noGrp="1"/>
          </p:cNvSpPr>
          <p:nvPr/>
        </p:nvSpPr>
        <p:spPr>
          <a:xfrm>
            <a:off x="6324600" y="4206240"/>
            <a:ext cx="5218176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c"/>
            <a:r>
              <a:rPr lang="en-US" sz="1200" b="0" i="1" dirty="0">
                <a:solidFill>
                  <a:srgbClr val="666666"/>
                </a:solidFill>
                <a:latin typeface="Sora"/>
              </a:rPr>
              <a:t>Black + Green two-tone wordmark</a:t>
            </a:r>
            <a:endParaRPr lang="en-US" dirty="0"/>
          </a:p>
        </p:txBody>
      </p:sp>
    </p:spTree>
  </p:cSld>
  <p:clrMapOvr>
    <a:masterClr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r3"/>
          <p:cNvSpPr>
            <a:spLocks noGrp="1"/>
          </p:cNvSpPr>
          <p:nvPr/>
        </p:nvSpPr>
        <p:spPr>
          <a:xfrm>
            <a:off x="0" y="0"/>
            <a:ext cx="4632960" cy="685800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0" y="0"/>
            <a:ext cx="463296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12000" b="1" i="0" dirty="0">
                <a:solidFill>
                  <a:srgbClr val="000000"/>
                </a:solidFill>
                <a:latin typeface="Sora"/>
              </a:rPr>
              <a:t>05</a:t>
            </a:r>
            <a:endParaRPr lang="en-US" dirty="0"/>
          </a:p>
        </p:txBody>
      </p:sp>
      <p:sp>
        <p:nvSpPr>
          <p:cNvPr id="5" name="t5"/>
          <p:cNvSpPr txBox="1">
            <a:spLocks noGrp="1"/>
          </p:cNvSpPr>
          <p:nvPr/>
        </p:nvSpPr>
        <p:spPr>
          <a:xfrm>
            <a:off x="5090160" y="1714500"/>
            <a:ext cx="69646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</a:t>
            </a:r>
            <a:endParaRPr lang="en-US" dirty="0"/>
          </a:p>
        </p:txBody>
      </p:sp>
      <p:sp>
        <p:nvSpPr>
          <p:cNvPr id="6" name="r6"/>
          <p:cNvSpPr>
            <a:spLocks noGrp="1"/>
          </p:cNvSpPr>
          <p:nvPr/>
        </p:nvSpPr>
        <p:spPr>
          <a:xfrm>
            <a:off x="5090160" y="2606040"/>
            <a:ext cx="548640" cy="2926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5090160" y="2880360"/>
            <a:ext cx="696468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4000" b="1" i="0" dirty="0">
                <a:solidFill>
                  <a:srgbClr val="FFFFFF"/>
                </a:solidFill>
                <a:latin typeface="Sora"/>
              </a:rPr>
              <a:t>Iconography</a:t>
            </a:r>
            <a:endParaRPr lang="en-US" dirty="0"/>
          </a:p>
        </p:txBody>
      </p:sp>
    </p:spTree>
  </p:cSld>
  <p:clrMapOvr>
    <a:masterClr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43891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t3"/>
          <p:cNvSpPr txBox="1">
            <a:spLocks noGrp="1"/>
          </p:cNvSpPr>
          <p:nvPr/>
        </p:nvSpPr>
        <p:spPr>
          <a:xfrm>
            <a:off x="502920" y="50292"/>
            <a:ext cx="1036320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Sora"/>
              </a:rPr>
              <a:t>05  Iconography</a:t>
            </a:r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10911840" y="50292"/>
            <a:ext cx="109728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1300" b="1" i="0" dirty="0">
                <a:solidFill>
                  <a:srgbClr val="9CD246"/>
                </a:solidFill>
                <a:latin typeface="Sora"/>
              </a:rPr>
              <a:t>15</a:t>
            </a:r>
            <a:endParaRPr lang="en-US" dirty="0"/>
          </a:p>
        </p:txBody>
      </p:sp>
      <p:sp>
        <p:nvSpPr>
          <p:cNvPr id="5" name="r5"/>
          <p:cNvSpPr>
            <a:spLocks noGrp="1"/>
          </p:cNvSpPr>
          <p:nvPr/>
        </p:nvSpPr>
        <p:spPr>
          <a:xfrm>
            <a:off x="502920" y="822960"/>
            <a:ext cx="11186160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t6"/>
          <p:cNvSpPr txBox="1">
            <a:spLocks noGrp="1"/>
          </p:cNvSpPr>
          <p:nvPr/>
        </p:nvSpPr>
        <p:spPr>
          <a:xfrm>
            <a:off x="502920" y="65105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 v1.0</a:t>
            </a:r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9906000" y="65105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splitbo.in  ·  splitbo.app</a:t>
            </a:r>
            <a:endParaRPr lang="en-US" dirty="0"/>
          </a:p>
        </p:txBody>
      </p:sp>
      <p:sp>
        <p:nvSpPr>
          <p:cNvPr id="8" name="r8"/>
          <p:cNvSpPr>
            <a:spLocks noGrp="1"/>
          </p:cNvSpPr>
          <p:nvPr/>
        </p:nvSpPr>
        <p:spPr>
          <a:xfrm>
            <a:off x="502920" y="932688"/>
            <a:ext cx="11186160" cy="566928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9" name="t9"/>
          <p:cNvSpPr txBox="1">
            <a:spLocks noGrp="1"/>
          </p:cNvSpPr>
          <p:nvPr/>
        </p:nvSpPr>
        <p:spPr>
          <a:xfrm>
            <a:off x="630936" y="932688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400" b="1" i="0" dirty="0">
                <a:solidFill>
                  <a:srgbClr val="000000"/>
                </a:solidFill>
                <a:latin typeface="Sora"/>
              </a:rPr>
              <a:t>Style</a:t>
            </a:r>
            <a:endParaRPr lang="en-US" dirty="0"/>
          </a:p>
        </p:txBody>
      </p:sp>
      <p:sp>
        <p:nvSpPr>
          <p:cNvPr id="10" name="t10"/>
          <p:cNvSpPr txBox="1">
            <a:spLocks noGrp="1"/>
          </p:cNvSpPr>
          <p:nvPr/>
        </p:nvSpPr>
        <p:spPr>
          <a:xfrm>
            <a:off x="2916936" y="932688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400" b="1" i="0" dirty="0">
                <a:solidFill>
                  <a:srgbClr val="000000"/>
                </a:solidFill>
                <a:latin typeface="Sora"/>
              </a:rPr>
              <a:t>Size</a:t>
            </a:r>
            <a:endParaRPr lang="en-US" dirty="0"/>
          </a:p>
        </p:txBody>
      </p:sp>
      <p:sp>
        <p:nvSpPr>
          <p:cNvPr id="11" name="t11"/>
          <p:cNvSpPr txBox="1">
            <a:spLocks noGrp="1"/>
          </p:cNvSpPr>
          <p:nvPr/>
        </p:nvSpPr>
        <p:spPr>
          <a:xfrm>
            <a:off x="5294376" y="932688"/>
            <a:ext cx="62179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400" b="1" i="0" dirty="0">
                <a:solidFill>
                  <a:srgbClr val="000000"/>
                </a:solidFill>
                <a:latin typeface="Sora"/>
              </a:rPr>
              <a:t>Usage</a:t>
            </a:r>
            <a:endParaRPr lang="en-US" dirty="0"/>
          </a:p>
        </p:txBody>
      </p:sp>
      <p:sp>
        <p:nvSpPr>
          <p:cNvPr id="12" name="r12"/>
          <p:cNvSpPr>
            <a:spLocks noGrp="1"/>
          </p:cNvSpPr>
          <p:nvPr/>
        </p:nvSpPr>
        <p:spPr>
          <a:xfrm>
            <a:off x="502920" y="1499616"/>
            <a:ext cx="11186160" cy="5669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3" name="r13"/>
          <p:cNvSpPr>
            <a:spLocks noGrp="1"/>
          </p:cNvSpPr>
          <p:nvPr/>
        </p:nvSpPr>
        <p:spPr>
          <a:xfrm>
            <a:off x="502920" y="1499616"/>
            <a:ext cx="36576" cy="566928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4" name="t14"/>
          <p:cNvSpPr txBox="1">
            <a:spLocks noGrp="1"/>
          </p:cNvSpPr>
          <p:nvPr/>
        </p:nvSpPr>
        <p:spPr>
          <a:xfrm>
            <a:off x="630936" y="1499616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Regular</a:t>
            </a:r>
            <a:endParaRPr lang="en-US" dirty="0"/>
          </a:p>
        </p:txBody>
      </p:sp>
      <p:sp>
        <p:nvSpPr>
          <p:cNvPr id="15" name="t15"/>
          <p:cNvSpPr txBox="1">
            <a:spLocks noGrp="1"/>
          </p:cNvSpPr>
          <p:nvPr/>
        </p:nvSpPr>
        <p:spPr>
          <a:xfrm>
            <a:off x="2916936" y="1499616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20 / 24 px</a:t>
            </a:r>
            <a:endParaRPr lang="en-US" dirty="0"/>
          </a:p>
        </p:txBody>
      </p:sp>
      <p:sp>
        <p:nvSpPr>
          <p:cNvPr id="16" name="t16"/>
          <p:cNvSpPr txBox="1">
            <a:spLocks noGrp="1"/>
          </p:cNvSpPr>
          <p:nvPr/>
        </p:nvSpPr>
        <p:spPr>
          <a:xfrm>
            <a:off x="5294376" y="1499616"/>
            <a:ext cx="62179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Lists, form fields, inline UI</a:t>
            </a:r>
            <a:endParaRPr lang="en-US" dirty="0"/>
          </a:p>
        </p:txBody>
      </p:sp>
      <p:sp>
        <p:nvSpPr>
          <p:cNvPr id="17" name="r17"/>
          <p:cNvSpPr>
            <a:spLocks noGrp="1"/>
          </p:cNvSpPr>
          <p:nvPr/>
        </p:nvSpPr>
        <p:spPr>
          <a:xfrm>
            <a:off x="502920" y="2066544"/>
            <a:ext cx="11186160" cy="566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8" name="r18"/>
          <p:cNvSpPr>
            <a:spLocks noGrp="1"/>
          </p:cNvSpPr>
          <p:nvPr/>
        </p:nvSpPr>
        <p:spPr>
          <a:xfrm>
            <a:off x="502920" y="2066544"/>
            <a:ext cx="36576" cy="566928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9" name="t19"/>
          <p:cNvSpPr txBox="1">
            <a:spLocks noGrp="1"/>
          </p:cNvSpPr>
          <p:nvPr/>
        </p:nvSpPr>
        <p:spPr>
          <a:xfrm>
            <a:off x="630936" y="2066544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Bold</a:t>
            </a:r>
            <a:endParaRPr lang="en-US" dirty="0"/>
          </a:p>
        </p:txBody>
      </p:sp>
      <p:sp>
        <p:nvSpPr>
          <p:cNvPr id="20" name="t20"/>
          <p:cNvSpPr txBox="1">
            <a:spLocks noGrp="1"/>
          </p:cNvSpPr>
          <p:nvPr/>
        </p:nvSpPr>
        <p:spPr>
          <a:xfrm>
            <a:off x="2916936" y="2066544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24 / 28 px</a:t>
            </a:r>
            <a:endParaRPr lang="en-US" dirty="0"/>
          </a:p>
        </p:txBody>
      </p:sp>
      <p:sp>
        <p:nvSpPr>
          <p:cNvPr id="21" name="t21"/>
          <p:cNvSpPr txBox="1">
            <a:spLocks noGrp="1"/>
          </p:cNvSpPr>
          <p:nvPr/>
        </p:nvSpPr>
        <p:spPr>
          <a:xfrm>
            <a:off x="5294376" y="2066544"/>
            <a:ext cx="62179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Tab bar, FAB, primary actions</a:t>
            </a:r>
            <a:endParaRPr lang="en-US" dirty="0"/>
          </a:p>
        </p:txBody>
      </p:sp>
      <p:sp>
        <p:nvSpPr>
          <p:cNvPr id="22" name="r22"/>
          <p:cNvSpPr>
            <a:spLocks noGrp="1"/>
          </p:cNvSpPr>
          <p:nvPr/>
        </p:nvSpPr>
        <p:spPr>
          <a:xfrm>
            <a:off x="502920" y="2633472"/>
            <a:ext cx="11186160" cy="56692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3" name="r23"/>
          <p:cNvSpPr>
            <a:spLocks noGrp="1"/>
          </p:cNvSpPr>
          <p:nvPr/>
        </p:nvSpPr>
        <p:spPr>
          <a:xfrm>
            <a:off x="502920" y="2633472"/>
            <a:ext cx="36576" cy="566928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4" name="t24"/>
          <p:cNvSpPr txBox="1">
            <a:spLocks noGrp="1"/>
          </p:cNvSpPr>
          <p:nvPr/>
        </p:nvSpPr>
        <p:spPr>
          <a:xfrm>
            <a:off x="630936" y="2633472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Fill</a:t>
            </a:r>
            <a:endParaRPr lang="en-US" dirty="0"/>
          </a:p>
        </p:txBody>
      </p:sp>
      <p:sp>
        <p:nvSpPr>
          <p:cNvPr id="25" name="t25"/>
          <p:cNvSpPr txBox="1">
            <a:spLocks noGrp="1"/>
          </p:cNvSpPr>
          <p:nvPr/>
        </p:nvSpPr>
        <p:spPr>
          <a:xfrm>
            <a:off x="2916936" y="2633472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24 px</a:t>
            </a:r>
            <a:endParaRPr lang="en-US" dirty="0"/>
          </a:p>
        </p:txBody>
      </p:sp>
      <p:sp>
        <p:nvSpPr>
          <p:cNvPr id="26" name="t26"/>
          <p:cNvSpPr txBox="1">
            <a:spLocks noGrp="1"/>
          </p:cNvSpPr>
          <p:nvPr/>
        </p:nvSpPr>
        <p:spPr>
          <a:xfrm>
            <a:off x="5294376" y="2633472"/>
            <a:ext cx="62179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Selected / active states only</a:t>
            </a:r>
            <a:endParaRPr lang="en-US" dirty="0"/>
          </a:p>
        </p:txBody>
      </p:sp>
      <p:sp>
        <p:nvSpPr>
          <p:cNvPr id="27" name="rr27"/>
          <p:cNvSpPr>
            <a:spLocks noGrp="1"/>
          </p:cNvSpPr>
          <p:nvPr/>
        </p:nvSpPr>
        <p:spPr>
          <a:xfrm>
            <a:off x="502920" y="340156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8" name="t28"/>
          <p:cNvSpPr txBox="1">
            <a:spLocks noGrp="1"/>
          </p:cNvSpPr>
          <p:nvPr/>
        </p:nvSpPr>
        <p:spPr>
          <a:xfrm>
            <a:off x="978408" y="3401568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FFFFFF"/>
                </a:solidFill>
                <a:latin typeface="Sora"/>
              </a:rPr>
              <a:t>Active/selected</a:t>
            </a:r>
            <a:endParaRPr lang="en-US" dirty="0"/>
          </a:p>
        </p:txBody>
      </p:sp>
      <p:sp>
        <p:nvSpPr>
          <p:cNvPr id="29" name="rr29"/>
          <p:cNvSpPr>
            <a:spLocks noGrp="1"/>
          </p:cNvSpPr>
          <p:nvPr/>
        </p:nvSpPr>
        <p:spPr>
          <a:xfrm>
            <a:off x="2514600" y="340156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0" name="t30"/>
          <p:cNvSpPr txBox="1">
            <a:spLocks noGrp="1"/>
          </p:cNvSpPr>
          <p:nvPr/>
        </p:nvSpPr>
        <p:spPr>
          <a:xfrm>
            <a:off x="2990088" y="3401568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FFFFFF"/>
                </a:solidFill>
                <a:latin typeface="Sora"/>
              </a:rPr>
              <a:t>Inactive (muted)</a:t>
            </a:r>
            <a:endParaRPr lang="en-US" dirty="0"/>
          </a:p>
        </p:txBody>
      </p:sp>
      <p:sp>
        <p:nvSpPr>
          <p:cNvPr id="31" name="rr31"/>
          <p:cNvSpPr>
            <a:spLocks noGrp="1"/>
          </p:cNvSpPr>
          <p:nvPr/>
        </p:nvSpPr>
        <p:spPr>
          <a:xfrm>
            <a:off x="4526280" y="340156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2" name="t32"/>
          <p:cNvSpPr txBox="1">
            <a:spLocks noGrp="1"/>
          </p:cNvSpPr>
          <p:nvPr/>
        </p:nvSpPr>
        <p:spPr>
          <a:xfrm>
            <a:off x="5001768" y="3401568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FFFFFF"/>
                </a:solidFill>
                <a:latin typeface="Sora"/>
              </a:rPr>
              <a:t>Positive balance</a:t>
            </a:r>
            <a:endParaRPr lang="en-US" dirty="0"/>
          </a:p>
        </p:txBody>
      </p:sp>
      <p:sp>
        <p:nvSpPr>
          <p:cNvPr id="33" name="rr33"/>
          <p:cNvSpPr>
            <a:spLocks noGrp="1"/>
          </p:cNvSpPr>
          <p:nvPr/>
        </p:nvSpPr>
        <p:spPr>
          <a:xfrm>
            <a:off x="6537960" y="340156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4" name="t34"/>
          <p:cNvSpPr txBox="1">
            <a:spLocks noGrp="1"/>
          </p:cNvSpPr>
          <p:nvPr/>
        </p:nvSpPr>
        <p:spPr>
          <a:xfrm>
            <a:off x="7013448" y="3401568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FFFFFF"/>
                </a:solidFill>
                <a:latin typeface="Sora"/>
              </a:rPr>
              <a:t>Negative balance</a:t>
            </a:r>
            <a:endParaRPr lang="en-US" dirty="0"/>
          </a:p>
        </p:txBody>
      </p:sp>
      <p:sp>
        <p:nvSpPr>
          <p:cNvPr id="35" name="rr35"/>
          <p:cNvSpPr>
            <a:spLocks noGrp="1"/>
          </p:cNvSpPr>
          <p:nvPr/>
        </p:nvSpPr>
        <p:spPr>
          <a:xfrm>
            <a:off x="8549640" y="340156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6" name="t36"/>
          <p:cNvSpPr txBox="1">
            <a:spLocks noGrp="1"/>
          </p:cNvSpPr>
          <p:nvPr/>
        </p:nvSpPr>
        <p:spPr>
          <a:xfrm>
            <a:off x="9025128" y="3401568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200" b="0" i="0" dirty="0">
                <a:solidFill>
                  <a:srgbClr val="FFFFFF"/>
                </a:solidFill>
                <a:latin typeface="Sora"/>
              </a:rPr>
              <a:t>Destructive only</a:t>
            </a:r>
            <a:endParaRPr lang="en-US" dirty="0"/>
          </a:p>
        </p:txBody>
      </p:sp>
      <p:sp>
        <p:nvSpPr>
          <p:cNvPr id="37" name="t37"/>
          <p:cNvSpPr txBox="1">
            <a:spLocks noGrp="1"/>
          </p:cNvSpPr>
          <p:nvPr/>
        </p:nvSpPr>
        <p:spPr>
          <a:xfrm>
            <a:off x="502920" y="3904488"/>
            <a:ext cx="111861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200" b="0" i="1" dirty="0">
                <a:solidFill>
                  <a:srgbClr val="666666"/>
                </a:solidFill>
                <a:latin typeface="Sora"/>
              </a:rPr>
              <a:t>Library: Phosphor Icons  ·  react-native-phosphor-icons  ·  phosphoricons.com</a:t>
            </a:r>
            <a:endParaRPr lang="en-US" dirty="0"/>
          </a:p>
        </p:txBody>
      </p:sp>
    </p:spTree>
  </p:cSld>
  <p:clrMapOvr>
    <a:masterClr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r3"/>
          <p:cNvSpPr>
            <a:spLocks noGrp="1"/>
          </p:cNvSpPr>
          <p:nvPr/>
        </p:nvSpPr>
        <p:spPr>
          <a:xfrm>
            <a:off x="0" y="0"/>
            <a:ext cx="4632960" cy="685800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0" y="0"/>
            <a:ext cx="463296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12000" b="1" i="0" dirty="0">
                <a:solidFill>
                  <a:srgbClr val="000000"/>
                </a:solidFill>
                <a:latin typeface="Sora"/>
              </a:rPr>
              <a:t>06</a:t>
            </a:r>
            <a:endParaRPr lang="en-US" dirty="0"/>
          </a:p>
        </p:txBody>
      </p:sp>
      <p:sp>
        <p:nvSpPr>
          <p:cNvPr id="5" name="t5"/>
          <p:cNvSpPr txBox="1">
            <a:spLocks noGrp="1"/>
          </p:cNvSpPr>
          <p:nvPr/>
        </p:nvSpPr>
        <p:spPr>
          <a:xfrm>
            <a:off x="5090160" y="1714500"/>
            <a:ext cx="69646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</a:t>
            </a:r>
            <a:endParaRPr lang="en-US" dirty="0"/>
          </a:p>
        </p:txBody>
      </p:sp>
      <p:sp>
        <p:nvSpPr>
          <p:cNvPr id="6" name="r6"/>
          <p:cNvSpPr>
            <a:spLocks noGrp="1"/>
          </p:cNvSpPr>
          <p:nvPr/>
        </p:nvSpPr>
        <p:spPr>
          <a:xfrm>
            <a:off x="5090160" y="2606040"/>
            <a:ext cx="548640" cy="2926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5090160" y="2880360"/>
            <a:ext cx="696468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4000" b="1" i="0" dirty="0">
                <a:solidFill>
                  <a:srgbClr val="FFFFFF"/>
                </a:solidFill>
                <a:latin typeface="Sora"/>
              </a:rPr>
              <a:t>Components</a:t>
            </a:r>
            <a:endParaRPr lang="en-US" dirty="0"/>
          </a:p>
        </p:txBody>
      </p:sp>
    </p:spTree>
  </p:cSld>
  <p:clrMapOvr>
    <a:masterClr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43891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t3"/>
          <p:cNvSpPr txBox="1">
            <a:spLocks noGrp="1"/>
          </p:cNvSpPr>
          <p:nvPr/>
        </p:nvSpPr>
        <p:spPr>
          <a:xfrm>
            <a:off x="502920" y="50292"/>
            <a:ext cx="1036320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Sora"/>
              </a:rPr>
              <a:t>06  Components — Buttons &amp; Balance Chips</a:t>
            </a:r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10911840" y="50292"/>
            <a:ext cx="109728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1300" b="1" i="0" dirty="0">
                <a:solidFill>
                  <a:srgbClr val="9CD246"/>
                </a:solidFill>
                <a:latin typeface="Sora"/>
              </a:rPr>
              <a:t>17</a:t>
            </a:r>
            <a:endParaRPr lang="en-US" dirty="0"/>
          </a:p>
        </p:txBody>
      </p:sp>
      <p:sp>
        <p:nvSpPr>
          <p:cNvPr id="5" name="r5"/>
          <p:cNvSpPr>
            <a:spLocks noGrp="1"/>
          </p:cNvSpPr>
          <p:nvPr/>
        </p:nvSpPr>
        <p:spPr>
          <a:xfrm>
            <a:off x="502920" y="822960"/>
            <a:ext cx="11186160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t6"/>
          <p:cNvSpPr txBox="1">
            <a:spLocks noGrp="1"/>
          </p:cNvSpPr>
          <p:nvPr/>
        </p:nvSpPr>
        <p:spPr>
          <a:xfrm>
            <a:off x="502920" y="65105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 v1.0</a:t>
            </a:r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9906000" y="65105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splitbo.in  ·  splitbo.app</a:t>
            </a:r>
            <a:endParaRPr lang="en-US" dirty="0"/>
          </a:p>
        </p:txBody>
      </p:sp>
      <p:sp>
        <p:nvSpPr>
          <p:cNvPr id="8" name="rr8"/>
          <p:cNvSpPr>
            <a:spLocks noGrp="1"/>
          </p:cNvSpPr>
          <p:nvPr/>
        </p:nvSpPr>
        <p:spPr>
          <a:xfrm>
            <a:off x="502920" y="1024128"/>
            <a:ext cx="2645664" cy="640080"/>
          </a:xfrm>
          <a:prstGeom prst="roundRect">
            <a:avLst>
              <a:gd name="adj" fmla="val 8000"/>
            </a:avLst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9" name="t9"/>
          <p:cNvSpPr txBox="1">
            <a:spLocks noGrp="1"/>
          </p:cNvSpPr>
          <p:nvPr/>
        </p:nvSpPr>
        <p:spPr>
          <a:xfrm>
            <a:off x="502920" y="1024128"/>
            <a:ext cx="2645664" cy="64008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1700" b="1" i="0" dirty="0">
                <a:solidFill>
                  <a:srgbClr val="000000"/>
                </a:solidFill>
                <a:latin typeface="Sora"/>
              </a:rPr>
              <a:t>Primary</a:t>
            </a:r>
            <a:endParaRPr lang="en-US" dirty="0"/>
          </a:p>
        </p:txBody>
      </p:sp>
      <p:sp>
        <p:nvSpPr>
          <p:cNvPr id="10" name="t10"/>
          <p:cNvSpPr txBox="1">
            <a:spLocks noGrp="1"/>
          </p:cNvSpPr>
          <p:nvPr/>
        </p:nvSpPr>
        <p:spPr>
          <a:xfrm>
            <a:off x="502920" y="1801368"/>
            <a:ext cx="264566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Sora"/>
              </a:rPr>
              <a:t>Primary</a:t>
            </a:r>
            <a:endParaRPr lang="en-US" dirty="0"/>
          </a:p>
        </p:txBody>
      </p:sp>
      <p:sp>
        <p:nvSpPr>
          <p:cNvPr id="11" name="t11"/>
          <p:cNvSpPr txBox="1">
            <a:spLocks noGrp="1"/>
          </p:cNvSpPr>
          <p:nvPr/>
        </p:nvSpPr>
        <p:spPr>
          <a:xfrm>
            <a:off x="502920" y="2167128"/>
            <a:ext cx="2645664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100" b="0" i="0" dirty="0">
                <a:solidFill>
                  <a:srgbClr val="9CD246"/>
                </a:solidFill>
                <a:latin typeface="Sora"/>
              </a:rPr>
              <a:t>variant='primary'</a:t>
            </a:r>
            <a:endParaRPr lang="en-US" dirty="0"/>
          </a:p>
        </p:txBody>
      </p:sp>
      <p:sp>
        <p:nvSpPr>
          <p:cNvPr id="12" name="t12"/>
          <p:cNvSpPr txBox="1">
            <a:spLocks noGrp="1"/>
          </p:cNvSpPr>
          <p:nvPr/>
        </p:nvSpPr>
        <p:spPr>
          <a:xfrm>
            <a:off x="502920" y="2487168"/>
            <a:ext cx="2645664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100" b="0" i="1" dirty="0">
                <a:solidFill>
                  <a:srgbClr val="666666"/>
                </a:solidFill>
                <a:latin typeface="Sora"/>
              </a:rPr>
              <a:t>Add Expense · Settle Up</a:t>
            </a:r>
            <a:endParaRPr lang="en-US" dirty="0"/>
          </a:p>
        </p:txBody>
      </p:sp>
      <p:sp>
        <p:nvSpPr>
          <p:cNvPr id="13" name="rr13"/>
          <p:cNvSpPr>
            <a:spLocks noGrp="1"/>
          </p:cNvSpPr>
          <p:nvPr/>
        </p:nvSpPr>
        <p:spPr>
          <a:xfrm>
            <a:off x="3240024" y="1024128"/>
            <a:ext cx="2645664" cy="64008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4" name="t14"/>
          <p:cNvSpPr txBox="1">
            <a:spLocks noGrp="1"/>
          </p:cNvSpPr>
          <p:nvPr/>
        </p:nvSpPr>
        <p:spPr>
          <a:xfrm>
            <a:off x="3240024" y="1024128"/>
            <a:ext cx="2645664" cy="64008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1700" b="1" i="0" dirty="0">
                <a:solidFill>
                  <a:srgbClr val="FFFFFF"/>
                </a:solidFill>
                <a:latin typeface="Sora"/>
              </a:rPr>
              <a:t>Secondary</a:t>
            </a:r>
            <a:endParaRPr lang="en-US" dirty="0"/>
          </a:p>
        </p:txBody>
      </p:sp>
      <p:sp>
        <p:nvSpPr>
          <p:cNvPr id="15" name="t15"/>
          <p:cNvSpPr txBox="1">
            <a:spLocks noGrp="1"/>
          </p:cNvSpPr>
          <p:nvPr/>
        </p:nvSpPr>
        <p:spPr>
          <a:xfrm>
            <a:off x="3240024" y="1801368"/>
            <a:ext cx="264566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Sora"/>
              </a:rPr>
              <a:t>Secondary</a:t>
            </a:r>
            <a:endParaRPr lang="en-US" dirty="0"/>
          </a:p>
        </p:txBody>
      </p:sp>
      <p:sp>
        <p:nvSpPr>
          <p:cNvPr id="16" name="t16"/>
          <p:cNvSpPr txBox="1">
            <a:spLocks noGrp="1"/>
          </p:cNvSpPr>
          <p:nvPr/>
        </p:nvSpPr>
        <p:spPr>
          <a:xfrm>
            <a:off x="3240024" y="2167128"/>
            <a:ext cx="2645664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100" b="0" i="0" dirty="0">
                <a:solidFill>
                  <a:srgbClr val="9CD246"/>
                </a:solidFill>
                <a:latin typeface="Sora"/>
              </a:rPr>
              <a:t>variant='secondary'</a:t>
            </a:r>
            <a:endParaRPr lang="en-US" dirty="0"/>
          </a:p>
        </p:txBody>
      </p:sp>
      <p:sp>
        <p:nvSpPr>
          <p:cNvPr id="17" name="t17"/>
          <p:cNvSpPr txBox="1">
            <a:spLocks noGrp="1"/>
          </p:cNvSpPr>
          <p:nvPr/>
        </p:nvSpPr>
        <p:spPr>
          <a:xfrm>
            <a:off x="3240024" y="2487168"/>
            <a:ext cx="2645664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100" b="0" i="1" dirty="0">
                <a:solidFill>
                  <a:srgbClr val="666666"/>
                </a:solidFill>
                <a:latin typeface="Sora"/>
              </a:rPr>
              <a:t>Share Link · View All</a:t>
            </a:r>
            <a:endParaRPr lang="en-US" dirty="0"/>
          </a:p>
        </p:txBody>
      </p:sp>
      <p:sp>
        <p:nvSpPr>
          <p:cNvPr id="18" name="rr18"/>
          <p:cNvSpPr>
            <a:spLocks noGrp="1"/>
          </p:cNvSpPr>
          <p:nvPr/>
        </p:nvSpPr>
        <p:spPr>
          <a:xfrm>
            <a:off x="5977128" y="1024128"/>
            <a:ext cx="2645664" cy="64008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 w="9525">
            <a:solidFill>
              <a:srgbClr val="222222"/>
            </a:solidFill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9" name="t19"/>
          <p:cNvSpPr txBox="1">
            <a:spLocks noGrp="1"/>
          </p:cNvSpPr>
          <p:nvPr/>
        </p:nvSpPr>
        <p:spPr>
          <a:xfrm>
            <a:off x="5977128" y="1024128"/>
            <a:ext cx="2645664" cy="64008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1700" b="1" i="0" dirty="0">
                <a:solidFill>
                  <a:srgbClr val="FFFFFF"/>
                </a:solidFill>
                <a:latin typeface="Sora"/>
              </a:rPr>
              <a:t>Ghost</a:t>
            </a:r>
            <a:endParaRPr lang="en-US" dirty="0"/>
          </a:p>
        </p:txBody>
      </p:sp>
      <p:sp>
        <p:nvSpPr>
          <p:cNvPr id="20" name="t20"/>
          <p:cNvSpPr txBox="1">
            <a:spLocks noGrp="1"/>
          </p:cNvSpPr>
          <p:nvPr/>
        </p:nvSpPr>
        <p:spPr>
          <a:xfrm>
            <a:off x="5977128" y="1801368"/>
            <a:ext cx="264566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Sora"/>
              </a:rPr>
              <a:t>Ghost</a:t>
            </a:r>
            <a:endParaRPr lang="en-US" dirty="0"/>
          </a:p>
        </p:txBody>
      </p:sp>
      <p:sp>
        <p:nvSpPr>
          <p:cNvPr id="21" name="t21"/>
          <p:cNvSpPr txBox="1">
            <a:spLocks noGrp="1"/>
          </p:cNvSpPr>
          <p:nvPr/>
        </p:nvSpPr>
        <p:spPr>
          <a:xfrm>
            <a:off x="5977128" y="2167128"/>
            <a:ext cx="2645664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100" b="0" i="0" dirty="0">
                <a:solidFill>
                  <a:srgbClr val="9CD246"/>
                </a:solidFill>
                <a:latin typeface="Sora"/>
              </a:rPr>
              <a:t>variant='ghost'</a:t>
            </a:r>
            <a:endParaRPr lang="en-US" dirty="0"/>
          </a:p>
        </p:txBody>
      </p:sp>
      <p:sp>
        <p:nvSpPr>
          <p:cNvPr id="22" name="t22"/>
          <p:cNvSpPr txBox="1">
            <a:spLocks noGrp="1"/>
          </p:cNvSpPr>
          <p:nvPr/>
        </p:nvSpPr>
        <p:spPr>
          <a:xfrm>
            <a:off x="5977128" y="2487168"/>
            <a:ext cx="2645664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100" b="0" i="1" dirty="0">
                <a:solidFill>
                  <a:srgbClr val="666666"/>
                </a:solidFill>
                <a:latin typeface="Sora"/>
              </a:rPr>
              <a:t>Cancel · Skip</a:t>
            </a:r>
            <a:endParaRPr lang="en-US" dirty="0"/>
          </a:p>
        </p:txBody>
      </p:sp>
      <p:sp>
        <p:nvSpPr>
          <p:cNvPr id="23" name="rr23"/>
          <p:cNvSpPr>
            <a:spLocks noGrp="1"/>
          </p:cNvSpPr>
          <p:nvPr/>
        </p:nvSpPr>
        <p:spPr>
          <a:xfrm>
            <a:off x="8714232" y="1024128"/>
            <a:ext cx="2645664" cy="64008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4" name="t24"/>
          <p:cNvSpPr txBox="1">
            <a:spLocks noGrp="1"/>
          </p:cNvSpPr>
          <p:nvPr/>
        </p:nvSpPr>
        <p:spPr>
          <a:xfrm>
            <a:off x="8714232" y="1024128"/>
            <a:ext cx="2645664" cy="64008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1700" b="1" i="0" dirty="0">
                <a:solidFill>
                  <a:srgbClr val="FFFFFF"/>
                </a:solidFill>
                <a:latin typeface="Sora"/>
              </a:rPr>
              <a:t>Danger</a:t>
            </a:r>
            <a:endParaRPr lang="en-US" dirty="0"/>
          </a:p>
        </p:txBody>
      </p:sp>
      <p:sp>
        <p:nvSpPr>
          <p:cNvPr id="25" name="t25"/>
          <p:cNvSpPr txBox="1">
            <a:spLocks noGrp="1"/>
          </p:cNvSpPr>
          <p:nvPr/>
        </p:nvSpPr>
        <p:spPr>
          <a:xfrm>
            <a:off x="8714232" y="1801368"/>
            <a:ext cx="264566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Sora"/>
              </a:rPr>
              <a:t>Danger</a:t>
            </a:r>
            <a:endParaRPr lang="en-US" dirty="0"/>
          </a:p>
        </p:txBody>
      </p:sp>
      <p:sp>
        <p:nvSpPr>
          <p:cNvPr id="26" name="t26"/>
          <p:cNvSpPr txBox="1">
            <a:spLocks noGrp="1"/>
          </p:cNvSpPr>
          <p:nvPr/>
        </p:nvSpPr>
        <p:spPr>
          <a:xfrm>
            <a:off x="8714232" y="2167128"/>
            <a:ext cx="2645664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100" b="0" i="0" dirty="0">
                <a:solidFill>
                  <a:srgbClr val="9CD246"/>
                </a:solidFill>
                <a:latin typeface="Sora"/>
              </a:rPr>
              <a:t>variant='danger'</a:t>
            </a:r>
            <a:endParaRPr lang="en-US" dirty="0"/>
          </a:p>
        </p:txBody>
      </p:sp>
      <p:sp>
        <p:nvSpPr>
          <p:cNvPr id="27" name="t27"/>
          <p:cNvSpPr txBox="1">
            <a:spLocks noGrp="1"/>
          </p:cNvSpPr>
          <p:nvPr/>
        </p:nvSpPr>
        <p:spPr>
          <a:xfrm>
            <a:off x="8714232" y="2487168"/>
            <a:ext cx="2645664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100" b="0" i="1" dirty="0">
                <a:solidFill>
                  <a:srgbClr val="666666"/>
                </a:solidFill>
                <a:latin typeface="Sora"/>
              </a:rPr>
              <a:t>Delete Expense</a:t>
            </a:r>
            <a:endParaRPr lang="en-US" dirty="0"/>
          </a:p>
        </p:txBody>
      </p:sp>
      <p:sp>
        <p:nvSpPr>
          <p:cNvPr id="28" name="r28"/>
          <p:cNvSpPr>
            <a:spLocks noGrp="1"/>
          </p:cNvSpPr>
          <p:nvPr/>
        </p:nvSpPr>
        <p:spPr>
          <a:xfrm>
            <a:off x="502920" y="2898648"/>
            <a:ext cx="11186160" cy="731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9" name="t29"/>
          <p:cNvSpPr txBox="1">
            <a:spLocks noGrp="1"/>
          </p:cNvSpPr>
          <p:nvPr/>
        </p:nvSpPr>
        <p:spPr>
          <a:xfrm>
            <a:off x="502920" y="3044952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Sora"/>
              </a:rPr>
              <a:t>Balance Chips</a:t>
            </a:r>
            <a:endParaRPr lang="en-US" dirty="0"/>
          </a:p>
        </p:txBody>
      </p:sp>
      <p:sp>
        <p:nvSpPr>
          <p:cNvPr id="30" name="rr30"/>
          <p:cNvSpPr>
            <a:spLocks noGrp="1"/>
          </p:cNvSpPr>
          <p:nvPr/>
        </p:nvSpPr>
        <p:spPr>
          <a:xfrm>
            <a:off x="502920" y="3547872"/>
            <a:ext cx="3127248" cy="521207"/>
          </a:xfrm>
          <a:prstGeom prst="roundRect">
            <a:avLst>
              <a:gd name="adj" fmla="val 50000"/>
            </a:avLst>
          </a:prstGeom>
          <a:solidFill>
            <a:srgbClr val="1C3528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1" name="t31"/>
          <p:cNvSpPr txBox="1">
            <a:spLocks noGrp="1"/>
          </p:cNvSpPr>
          <p:nvPr/>
        </p:nvSpPr>
        <p:spPr>
          <a:xfrm>
            <a:off x="704088" y="3547872"/>
            <a:ext cx="2852928" cy="521207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500" b="1" i="0" dirty="0">
                <a:solidFill>
                  <a:srgbClr val="22C55E"/>
                </a:solidFill>
                <a:latin typeface="Sora"/>
              </a:rPr>
              <a:t>You are owed  ₹1,500</a:t>
            </a:r>
            <a:endParaRPr lang="en-US" dirty="0"/>
          </a:p>
        </p:txBody>
      </p:sp>
      <p:sp>
        <p:nvSpPr>
          <p:cNvPr id="32" name="t32"/>
          <p:cNvSpPr txBox="1">
            <a:spLocks noGrp="1"/>
          </p:cNvSpPr>
          <p:nvPr/>
        </p:nvSpPr>
        <p:spPr>
          <a:xfrm>
            <a:off x="502920" y="4151376"/>
            <a:ext cx="31272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000" b="0" i="1" dirty="0">
                <a:solidFill>
                  <a:srgbClr val="666666"/>
                </a:solidFill>
                <a:latin typeface="Sora"/>
              </a:rPr>
              <a:t>background: semantic.positive / 15%</a:t>
            </a:r>
            <a:endParaRPr lang="en-US" dirty="0"/>
          </a:p>
        </p:txBody>
      </p:sp>
      <p:sp>
        <p:nvSpPr>
          <p:cNvPr id="33" name="rr33"/>
          <p:cNvSpPr>
            <a:spLocks noGrp="1"/>
          </p:cNvSpPr>
          <p:nvPr/>
        </p:nvSpPr>
        <p:spPr>
          <a:xfrm>
            <a:off x="3831336" y="3547872"/>
            <a:ext cx="3127248" cy="521207"/>
          </a:xfrm>
          <a:prstGeom prst="roundRect">
            <a:avLst>
              <a:gd name="adj" fmla="val 50000"/>
            </a:avLst>
          </a:prstGeom>
          <a:solidFill>
            <a:srgbClr val="3A2010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4" name="t34"/>
          <p:cNvSpPr txBox="1">
            <a:spLocks noGrp="1"/>
          </p:cNvSpPr>
          <p:nvPr/>
        </p:nvSpPr>
        <p:spPr>
          <a:xfrm>
            <a:off x="4032504" y="3547872"/>
            <a:ext cx="2852928" cy="521207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500" b="1" i="0" dirty="0">
                <a:solidFill>
                  <a:srgbClr val="F97316"/>
                </a:solidFill>
                <a:latin typeface="Sora"/>
              </a:rPr>
              <a:t>You owe  ₹750</a:t>
            </a:r>
            <a:endParaRPr lang="en-US" dirty="0"/>
          </a:p>
        </p:txBody>
      </p:sp>
      <p:sp>
        <p:nvSpPr>
          <p:cNvPr id="35" name="t35"/>
          <p:cNvSpPr txBox="1">
            <a:spLocks noGrp="1"/>
          </p:cNvSpPr>
          <p:nvPr/>
        </p:nvSpPr>
        <p:spPr>
          <a:xfrm>
            <a:off x="3831336" y="4151376"/>
            <a:ext cx="31272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000" b="0" i="1" dirty="0">
                <a:solidFill>
                  <a:srgbClr val="666666"/>
                </a:solidFill>
                <a:latin typeface="Sora"/>
              </a:rPr>
              <a:t>background: semantic.negative / 15%</a:t>
            </a:r>
            <a:endParaRPr lang="en-US" dirty="0"/>
          </a:p>
        </p:txBody>
      </p:sp>
      <p:sp>
        <p:nvSpPr>
          <p:cNvPr id="36" name="rr36"/>
          <p:cNvSpPr>
            <a:spLocks noGrp="1"/>
          </p:cNvSpPr>
          <p:nvPr/>
        </p:nvSpPr>
        <p:spPr>
          <a:xfrm>
            <a:off x="7159752" y="3547872"/>
            <a:ext cx="3127248" cy="521207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7" name="t37"/>
          <p:cNvSpPr txBox="1">
            <a:spLocks noGrp="1"/>
          </p:cNvSpPr>
          <p:nvPr/>
        </p:nvSpPr>
        <p:spPr>
          <a:xfrm>
            <a:off x="7360920" y="3547872"/>
            <a:ext cx="2852928" cy="521207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500" b="1" i="0" dirty="0">
                <a:solidFill>
                  <a:srgbClr val="888888"/>
                </a:solidFill>
                <a:latin typeface="Sora"/>
              </a:rPr>
              <a:t>Settled</a:t>
            </a:r>
            <a:endParaRPr lang="en-US" dirty="0"/>
          </a:p>
        </p:txBody>
      </p:sp>
      <p:sp>
        <p:nvSpPr>
          <p:cNvPr id="38" name="t38"/>
          <p:cNvSpPr txBox="1">
            <a:spLocks noGrp="1"/>
          </p:cNvSpPr>
          <p:nvPr/>
        </p:nvSpPr>
        <p:spPr>
          <a:xfrm>
            <a:off x="7159752" y="4151376"/>
            <a:ext cx="31272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1000" b="0" i="1" dirty="0">
                <a:solidFill>
                  <a:srgbClr val="666666"/>
                </a:solidFill>
                <a:latin typeface="Sora"/>
              </a:rPr>
              <a:t>background: text.muted / 10%</a:t>
            </a:r>
            <a:endParaRPr lang="en-US" dirty="0"/>
          </a:p>
        </p:txBody>
      </p:sp>
    </p:spTree>
  </p:cSld>
  <p:clrMapOvr>
    <a:masterClr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r3"/>
          <p:cNvSpPr>
            <a:spLocks noGrp="1"/>
          </p:cNvSpPr>
          <p:nvPr/>
        </p:nvSpPr>
        <p:spPr>
          <a:xfrm>
            <a:off x="0" y="0"/>
            <a:ext cx="4632960" cy="685800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0" y="0"/>
            <a:ext cx="463296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12000" b="1" i="0" dirty="0">
                <a:solidFill>
                  <a:srgbClr val="000000"/>
                </a:solidFill>
                <a:latin typeface="Sora"/>
              </a:rPr>
              <a:t>07</a:t>
            </a:r>
            <a:endParaRPr lang="en-US" dirty="0"/>
          </a:p>
        </p:txBody>
      </p:sp>
      <p:sp>
        <p:nvSpPr>
          <p:cNvPr id="5" name="t5"/>
          <p:cNvSpPr txBox="1">
            <a:spLocks noGrp="1"/>
          </p:cNvSpPr>
          <p:nvPr/>
        </p:nvSpPr>
        <p:spPr>
          <a:xfrm>
            <a:off x="5090160" y="1714500"/>
            <a:ext cx="69646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</a:t>
            </a:r>
            <a:endParaRPr lang="en-US" dirty="0"/>
          </a:p>
        </p:txBody>
      </p:sp>
      <p:sp>
        <p:nvSpPr>
          <p:cNvPr id="6" name="r6"/>
          <p:cNvSpPr>
            <a:spLocks noGrp="1"/>
          </p:cNvSpPr>
          <p:nvPr/>
        </p:nvSpPr>
        <p:spPr>
          <a:xfrm>
            <a:off x="5090160" y="2606040"/>
            <a:ext cx="548640" cy="2926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5090160" y="2880360"/>
            <a:ext cx="696468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lang="en-US" sz="4000" b="1" i="0" dirty="0">
                <a:solidFill>
                  <a:srgbClr val="FFFFFF"/>
                </a:solidFill>
                <a:latin typeface="Sora"/>
              </a:rPr>
              <a:t>Do / Don't</a:t>
            </a:r>
            <a:endParaRPr lang="en-US" dirty="0"/>
          </a:p>
        </p:txBody>
      </p:sp>
    </p:spTree>
  </p:cSld>
  <p:clrMapOvr>
    <a:masterClr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43891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t3"/>
          <p:cNvSpPr txBox="1">
            <a:spLocks noGrp="1"/>
          </p:cNvSpPr>
          <p:nvPr/>
        </p:nvSpPr>
        <p:spPr>
          <a:xfrm>
            <a:off x="502920" y="50292"/>
            <a:ext cx="1036320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Sora"/>
              </a:rPr>
              <a:t>07  Do / Don't</a:t>
            </a:r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10911840" y="50292"/>
            <a:ext cx="1097280" cy="768096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1300" b="1" i="0" dirty="0">
                <a:solidFill>
                  <a:srgbClr val="9CD246"/>
                </a:solidFill>
                <a:latin typeface="Sora"/>
              </a:rPr>
              <a:t>19</a:t>
            </a:r>
            <a:endParaRPr lang="en-US" dirty="0"/>
          </a:p>
        </p:txBody>
      </p:sp>
      <p:sp>
        <p:nvSpPr>
          <p:cNvPr id="5" name="r5"/>
          <p:cNvSpPr>
            <a:spLocks noGrp="1"/>
          </p:cNvSpPr>
          <p:nvPr/>
        </p:nvSpPr>
        <p:spPr>
          <a:xfrm>
            <a:off x="502920" y="822960"/>
            <a:ext cx="11186160" cy="457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t6"/>
          <p:cNvSpPr txBox="1">
            <a:spLocks noGrp="1"/>
          </p:cNvSpPr>
          <p:nvPr/>
        </p:nvSpPr>
        <p:spPr>
          <a:xfrm>
            <a:off x="502920" y="65105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  ·  Brand Guidelines v1.0</a:t>
            </a:r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9906000" y="65105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r"/>
            <a:r>
              <a:rPr lang="en-US" sz="900" b="0" i="0" dirty="0">
                <a:solidFill>
                  <a:srgbClr val="666666"/>
                </a:solidFill>
                <a:latin typeface="Sora"/>
              </a:rPr>
              <a:t>splitbo.in  ·  splitbo.app</a:t>
            </a:r>
            <a:endParaRPr lang="en-US" dirty="0"/>
          </a:p>
        </p:txBody>
      </p:sp>
      <p:sp>
        <p:nvSpPr>
          <p:cNvPr id="8" name="r8"/>
          <p:cNvSpPr>
            <a:spLocks noGrp="1"/>
          </p:cNvSpPr>
          <p:nvPr/>
        </p:nvSpPr>
        <p:spPr>
          <a:xfrm>
            <a:off x="502920" y="932688"/>
            <a:ext cx="5547360" cy="45720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9" name="t9"/>
          <p:cNvSpPr txBox="1">
            <a:spLocks noGrp="1"/>
          </p:cNvSpPr>
          <p:nvPr/>
        </p:nvSpPr>
        <p:spPr>
          <a:xfrm>
            <a:off x="667512" y="932688"/>
            <a:ext cx="5547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800" b="1" i="0" dirty="0">
                <a:solidFill>
                  <a:srgbClr val="000000"/>
                </a:solidFill>
                <a:latin typeface="Sora"/>
              </a:rPr>
              <a:t>DO</a:t>
            </a:r>
            <a:endParaRPr lang="en-US" dirty="0"/>
          </a:p>
        </p:txBody>
      </p:sp>
      <p:sp>
        <p:nvSpPr>
          <p:cNvPr id="10" name="r10"/>
          <p:cNvSpPr>
            <a:spLocks noGrp="1"/>
          </p:cNvSpPr>
          <p:nvPr/>
        </p:nvSpPr>
        <p:spPr>
          <a:xfrm>
            <a:off x="6160008" y="932688"/>
            <a:ext cx="5547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6160008" y="932688"/>
            <a:ext cx="36576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2" name="t12"/>
          <p:cNvSpPr txBox="1">
            <a:spLocks noGrp="1"/>
          </p:cNvSpPr>
          <p:nvPr/>
        </p:nvSpPr>
        <p:spPr>
          <a:xfrm>
            <a:off x="6324600" y="932688"/>
            <a:ext cx="5547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Sora"/>
              </a:rPr>
              <a:t>DON'T</a:t>
            </a:r>
            <a:endParaRPr lang="en-US" dirty="0"/>
          </a:p>
        </p:txBody>
      </p:sp>
      <p:sp>
        <p:nvSpPr>
          <p:cNvPr id="13" name="r13"/>
          <p:cNvSpPr>
            <a:spLocks noGrp="1"/>
          </p:cNvSpPr>
          <p:nvPr/>
        </p:nvSpPr>
        <p:spPr>
          <a:xfrm>
            <a:off x="502920" y="1389888"/>
            <a:ext cx="5547360" cy="6217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4" name="r14"/>
          <p:cNvSpPr>
            <a:spLocks noGrp="1"/>
          </p:cNvSpPr>
          <p:nvPr/>
        </p:nvSpPr>
        <p:spPr>
          <a:xfrm>
            <a:off x="6160008" y="1389888"/>
            <a:ext cx="5547360" cy="6217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5" name="r15"/>
          <p:cNvSpPr>
            <a:spLocks noGrp="1"/>
          </p:cNvSpPr>
          <p:nvPr/>
        </p:nvSpPr>
        <p:spPr>
          <a:xfrm>
            <a:off x="502920" y="1389888"/>
            <a:ext cx="45720" cy="621792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6" name="t16"/>
          <p:cNvSpPr txBox="1">
            <a:spLocks noGrp="1"/>
          </p:cNvSpPr>
          <p:nvPr/>
        </p:nvSpPr>
        <p:spPr>
          <a:xfrm>
            <a:off x="640080" y="1389888"/>
            <a:ext cx="53461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Use #9CD246 as the primary action color on all screens</a:t>
            </a:r>
            <a:endParaRPr lang="en-US" dirty="0"/>
          </a:p>
        </p:txBody>
      </p:sp>
      <p:sp>
        <p:nvSpPr>
          <p:cNvPr id="17" name="r17"/>
          <p:cNvSpPr>
            <a:spLocks noGrp="1"/>
          </p:cNvSpPr>
          <p:nvPr/>
        </p:nvSpPr>
        <p:spPr>
          <a:xfrm>
            <a:off x="6160008" y="1389888"/>
            <a:ext cx="45720" cy="6217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8" name="t18"/>
          <p:cNvSpPr txBox="1">
            <a:spLocks noGrp="1"/>
          </p:cNvSpPr>
          <p:nvPr/>
        </p:nvSpPr>
        <p:spPr>
          <a:xfrm>
            <a:off x="6297168" y="1389888"/>
            <a:ext cx="53461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Mix brand colors outside the token system</a:t>
            </a:r>
            <a:endParaRPr lang="en-US" dirty="0"/>
          </a:p>
        </p:txBody>
      </p:sp>
      <p:sp>
        <p:nvSpPr>
          <p:cNvPr id="19" name="r19"/>
          <p:cNvSpPr>
            <a:spLocks noGrp="1"/>
          </p:cNvSpPr>
          <p:nvPr/>
        </p:nvSpPr>
        <p:spPr>
          <a:xfrm>
            <a:off x="502920" y="2011680"/>
            <a:ext cx="5547360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r20"/>
          <p:cNvSpPr>
            <a:spLocks noGrp="1"/>
          </p:cNvSpPr>
          <p:nvPr/>
        </p:nvSpPr>
        <p:spPr>
          <a:xfrm>
            <a:off x="6160008" y="2011680"/>
            <a:ext cx="5547360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1" name="r21"/>
          <p:cNvSpPr>
            <a:spLocks noGrp="1"/>
          </p:cNvSpPr>
          <p:nvPr/>
        </p:nvSpPr>
        <p:spPr>
          <a:xfrm>
            <a:off x="502920" y="2011680"/>
            <a:ext cx="45720" cy="621792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2" name="t22"/>
          <p:cNvSpPr txBox="1">
            <a:spLocks noGrp="1"/>
          </p:cNvSpPr>
          <p:nvPr/>
        </p:nvSpPr>
        <p:spPr>
          <a:xfrm>
            <a:off x="640080" y="2011680"/>
            <a:ext cx="53461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Use semantic.positive (green) for 'owed to you'</a:t>
            </a:r>
            <a:endParaRPr lang="en-US" dirty="0"/>
          </a:p>
        </p:txBody>
      </p:sp>
      <p:sp>
        <p:nvSpPr>
          <p:cNvPr id="23" name="r23"/>
          <p:cNvSpPr>
            <a:spLocks noGrp="1"/>
          </p:cNvSpPr>
          <p:nvPr/>
        </p:nvSpPr>
        <p:spPr>
          <a:xfrm>
            <a:off x="6160008" y="2011680"/>
            <a:ext cx="45720" cy="6217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4" name="t24"/>
          <p:cNvSpPr txBox="1">
            <a:spLocks noGrp="1"/>
          </p:cNvSpPr>
          <p:nvPr/>
        </p:nvSpPr>
        <p:spPr>
          <a:xfrm>
            <a:off x="6297168" y="2011680"/>
            <a:ext cx="53461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Use red for 'you owe' — always use orange (Negative)</a:t>
            </a:r>
            <a:endParaRPr lang="en-US" dirty="0"/>
          </a:p>
        </p:txBody>
      </p:sp>
      <p:sp>
        <p:nvSpPr>
          <p:cNvPr id="25" name="r25"/>
          <p:cNvSpPr>
            <a:spLocks noGrp="1"/>
          </p:cNvSpPr>
          <p:nvPr/>
        </p:nvSpPr>
        <p:spPr>
          <a:xfrm>
            <a:off x="502920" y="2633472"/>
            <a:ext cx="5547360" cy="6217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6" name="r26"/>
          <p:cNvSpPr>
            <a:spLocks noGrp="1"/>
          </p:cNvSpPr>
          <p:nvPr/>
        </p:nvSpPr>
        <p:spPr>
          <a:xfrm>
            <a:off x="6160008" y="2633472"/>
            <a:ext cx="5547360" cy="6217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7" name="r27"/>
          <p:cNvSpPr>
            <a:spLocks noGrp="1"/>
          </p:cNvSpPr>
          <p:nvPr/>
        </p:nvSpPr>
        <p:spPr>
          <a:xfrm>
            <a:off x="502920" y="2633472"/>
            <a:ext cx="45720" cy="621792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8" name="t28"/>
          <p:cNvSpPr txBox="1">
            <a:spLocks noGrp="1"/>
          </p:cNvSpPr>
          <p:nvPr/>
        </p:nvSpPr>
        <p:spPr>
          <a:xfrm>
            <a:off x="640080" y="2633472"/>
            <a:ext cx="53461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Use Sora for headings, Inter for all UI text</a:t>
            </a:r>
            <a:endParaRPr lang="en-US" dirty="0"/>
          </a:p>
        </p:txBody>
      </p:sp>
      <p:sp>
        <p:nvSpPr>
          <p:cNvPr id="29" name="r29"/>
          <p:cNvSpPr>
            <a:spLocks noGrp="1"/>
          </p:cNvSpPr>
          <p:nvPr/>
        </p:nvSpPr>
        <p:spPr>
          <a:xfrm>
            <a:off x="6160008" y="2633472"/>
            <a:ext cx="45720" cy="6217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0" name="t30"/>
          <p:cNvSpPr txBox="1">
            <a:spLocks noGrp="1"/>
          </p:cNvSpPr>
          <p:nvPr/>
        </p:nvSpPr>
        <p:spPr>
          <a:xfrm>
            <a:off x="6297168" y="2633472"/>
            <a:ext cx="53461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Mix in Barlow, JetBrains, or other font families</a:t>
            </a:r>
            <a:endParaRPr lang="en-US" dirty="0"/>
          </a:p>
        </p:txBody>
      </p:sp>
      <p:sp>
        <p:nvSpPr>
          <p:cNvPr id="31" name="r31"/>
          <p:cNvSpPr>
            <a:spLocks noGrp="1"/>
          </p:cNvSpPr>
          <p:nvPr/>
        </p:nvSpPr>
        <p:spPr>
          <a:xfrm>
            <a:off x="502920" y="3255264"/>
            <a:ext cx="5547360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2" name="r32"/>
          <p:cNvSpPr>
            <a:spLocks noGrp="1"/>
          </p:cNvSpPr>
          <p:nvPr/>
        </p:nvSpPr>
        <p:spPr>
          <a:xfrm>
            <a:off x="6160008" y="3255264"/>
            <a:ext cx="5547360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3" name="r33"/>
          <p:cNvSpPr>
            <a:spLocks noGrp="1"/>
          </p:cNvSpPr>
          <p:nvPr/>
        </p:nvSpPr>
        <p:spPr>
          <a:xfrm>
            <a:off x="502920" y="3255264"/>
            <a:ext cx="45720" cy="621792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4" name="t34"/>
          <p:cNvSpPr txBox="1">
            <a:spLocks noGrp="1"/>
          </p:cNvSpPr>
          <p:nvPr/>
        </p:nvSpPr>
        <p:spPr>
          <a:xfrm>
            <a:off x="640080" y="3255264"/>
            <a:ext cx="53461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Apply 4px grid for all spacing decisions</a:t>
            </a:r>
            <a:endParaRPr lang="en-US" dirty="0"/>
          </a:p>
        </p:txBody>
      </p:sp>
      <p:sp>
        <p:nvSpPr>
          <p:cNvPr id="35" name="r35"/>
          <p:cNvSpPr>
            <a:spLocks noGrp="1"/>
          </p:cNvSpPr>
          <p:nvPr/>
        </p:nvSpPr>
        <p:spPr>
          <a:xfrm>
            <a:off x="6160008" y="3255264"/>
            <a:ext cx="45720" cy="6217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6" name="t36"/>
          <p:cNvSpPr txBox="1">
            <a:spLocks noGrp="1"/>
          </p:cNvSpPr>
          <p:nvPr/>
        </p:nvSpPr>
        <p:spPr>
          <a:xfrm>
            <a:off x="6297168" y="3255264"/>
            <a:ext cx="53461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Use arbitrary spacing values outside the scale</a:t>
            </a:r>
            <a:endParaRPr lang="en-US" dirty="0"/>
          </a:p>
        </p:txBody>
      </p:sp>
      <p:sp>
        <p:nvSpPr>
          <p:cNvPr id="37" name="r37"/>
          <p:cNvSpPr>
            <a:spLocks noGrp="1"/>
          </p:cNvSpPr>
          <p:nvPr/>
        </p:nvSpPr>
        <p:spPr>
          <a:xfrm>
            <a:off x="502920" y="3877056"/>
            <a:ext cx="5547360" cy="6217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8" name="r38"/>
          <p:cNvSpPr>
            <a:spLocks noGrp="1"/>
          </p:cNvSpPr>
          <p:nvPr/>
        </p:nvSpPr>
        <p:spPr>
          <a:xfrm>
            <a:off x="6160008" y="3877056"/>
            <a:ext cx="5547360" cy="62179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9" name="r39"/>
          <p:cNvSpPr>
            <a:spLocks noGrp="1"/>
          </p:cNvSpPr>
          <p:nvPr/>
        </p:nvSpPr>
        <p:spPr>
          <a:xfrm>
            <a:off x="502920" y="3877056"/>
            <a:ext cx="45720" cy="621792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0" name="t40"/>
          <p:cNvSpPr txBox="1">
            <a:spLocks noGrp="1"/>
          </p:cNvSpPr>
          <p:nvPr/>
        </p:nvSpPr>
        <p:spPr>
          <a:xfrm>
            <a:off x="640080" y="3877056"/>
            <a:ext cx="53461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Test both light and dark mode for every screen</a:t>
            </a:r>
            <a:endParaRPr lang="en-US" dirty="0"/>
          </a:p>
        </p:txBody>
      </p:sp>
      <p:sp>
        <p:nvSpPr>
          <p:cNvPr id="41" name="r41"/>
          <p:cNvSpPr>
            <a:spLocks noGrp="1"/>
          </p:cNvSpPr>
          <p:nvPr/>
        </p:nvSpPr>
        <p:spPr>
          <a:xfrm>
            <a:off x="6160008" y="3877056"/>
            <a:ext cx="45720" cy="6217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2" name="t42"/>
          <p:cNvSpPr txBox="1">
            <a:spLocks noGrp="1"/>
          </p:cNvSpPr>
          <p:nvPr/>
        </p:nvSpPr>
        <p:spPr>
          <a:xfrm>
            <a:off x="6297168" y="3877056"/>
            <a:ext cx="53461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Sora"/>
              </a:rPr>
              <a:t>Design only for light mode — dark mode is first-class</a:t>
            </a:r>
            <a:endParaRPr lang="en-US" dirty="0"/>
          </a:p>
        </p:txBody>
      </p:sp>
    </p:spTree>
  </p:cSld>
  <p:clrMapOvr>
    <a:masterClr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r3"/>
          <p:cNvSpPr>
            <a:spLocks noGrp="1"/>
          </p:cNvSpPr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t4"/>
          <p:cNvSpPr txBox="1">
            <a:spLocks noGrp="1"/>
          </p:cNvSpPr>
          <p:nvPr/>
        </p:nvSpPr>
        <p:spPr>
          <a:xfrm>
            <a:off x="0" y="0"/>
            <a:ext cx="12192000" cy="493776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l"/>
            <a:r>
              <a:rPr lang="en-US" sz="9600" b="1" i="0" dirty="0">
                <a:solidFill>
                  <a:srgbClr val="FFFFFF"/>
                </a:solidFill>
                <a:latin typeface="Sora"/>
              </a:rPr>
              <a:t>Split</a:t>
            </a:r>
            <a:r>
              <a:rPr lang="en-US" sz="9600" b="1" i="0" dirty="0">
                <a:solidFill>
                  <a:srgbClr val="9CD246"/>
                </a:solidFill>
                <a:latin typeface="Sora"/>
              </a:rPr>
              <a:t>Bo</a:t>
            </a:r>
            <a:endParaRPr lang="en-US" dirty="0"/>
          </a:p>
        </p:txBody>
      </p:sp>
      <p:sp>
        <p:nvSpPr>
          <p:cNvPr id="5" name="r5"/>
          <p:cNvSpPr>
            <a:spLocks noGrp="1"/>
          </p:cNvSpPr>
          <p:nvPr/>
        </p:nvSpPr>
        <p:spPr>
          <a:xfrm>
            <a:off x="0" y="4937760"/>
            <a:ext cx="12192000" cy="1920240"/>
          </a:xfrm>
          <a:prstGeom prst="rect">
            <a:avLst/>
          </a:prstGeom>
          <a:solidFill>
            <a:srgbClr val="9CD246"/>
          </a:solidFill>
          <a:ln>
            <a:noFill/>
          </a:ln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t6"/>
          <p:cNvSpPr txBox="1">
            <a:spLocks noGrp="1"/>
          </p:cNvSpPr>
          <p:nvPr/>
        </p:nvSpPr>
        <p:spPr>
          <a:xfrm>
            <a:off x="0" y="5006340"/>
            <a:ext cx="121920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2800" b="0" i="1" dirty="0">
                <a:solidFill>
                  <a:srgbClr val="000000"/>
                </a:solidFill>
                <a:latin typeface="Sora"/>
              </a:rPr>
              <a:t>Split bills. Keep friends.</a:t>
            </a:r>
            <a:endParaRPr lang="en-US" dirty="0"/>
          </a:p>
        </p:txBody>
      </p:sp>
      <p:sp>
        <p:nvSpPr>
          <p:cNvPr id="7" name="t7"/>
          <p:cNvSpPr txBox="1">
            <a:spLocks noGrp="1"/>
          </p:cNvSpPr>
          <p:nvPr/>
        </p:nvSpPr>
        <p:spPr>
          <a:xfrm>
            <a:off x="0" y="5966460"/>
            <a:ext cx="12192000" cy="61722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1600" b="0" i="0" dirty="0">
                <a:solidFill>
                  <a:srgbClr val="000000"/>
                </a:solidFill>
                <a:latin typeface="Sora"/>
              </a:rPr>
              <a:t>splitbo.in  ·  splitbo.app  ·  splitbo.com</a:t>
            </a:r>
            <a:endParaRPr lang="en-US" dirty="0"/>
          </a:p>
        </p:txBody>
      </p:sp>
      <p:sp>
        <p:nvSpPr>
          <p:cNvPr id="8" name="t8"/>
          <p:cNvSpPr txBox="1">
            <a:spLocks noGrp="1"/>
          </p:cNvSpPr>
          <p:nvPr/>
        </p:nvSpPr>
        <p:spPr>
          <a:xfrm>
            <a:off x="0" y="6446520"/>
            <a:ext cx="121920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" lIns="0" tIns="0" rIns="0" bIns="0">
            <a:normAutofit/>
          </a:bodyPr>
          <a:lstStyle/>
          <a:p>
            <a:pPr algn="c"/>
            <a:r>
              <a:rPr lang="en-US" sz="1000" b="0" i="0" dirty="0">
                <a:solidFill>
                  <a:srgbClr val="000000"/>
                </a:solidFill>
                <a:latin typeface="Sora"/>
              </a:rPr>
              <a:t>© 2026 Splitbo. All rights reserved.</a:t>
            </a:r>
            <a:endParaRPr lang="en-US" dirty="0"/>
          </a:p>
        </p:txBody>
      </p:sp>
    </p:spTree>
  </p:cSld>
  <p:clrMapOvr>
    <a:masterClr/>
  </p:clrMapOvr>
</p:sld>
</file>

<file path=ppt/theme/theme1.xml><?xml version="1.0" encoding="utf-8"?>
<a:theme xmlns:a="http://schemas.openxmlformats.org/drawingml/2006/main" name="Splitbo">
  <a:themeElements>
    <a:clrScheme name="Splitbo">
      <a:dk1>
        <a:srgbClr val="000000"/>
      </a:dk1>
      <a:lt1>
        <a:srgbClr val="FFFFFF"/>
      </a:lt1>
      <a:dk2>
        <a:srgbClr val="0D0D0D"/>
      </a:dk2>
      <a:lt2>
        <a:srgbClr val="F5F5F5"/>
      </a:lt2>
      <a:accent1>
        <a:srgbClr val="9CD246"/>
      </a:accent1>
      <a:accent2>
        <a:srgbClr val="7BA832"/>
      </a:accent2>
      <a:accent3>
        <a:srgbClr val="22C55E"/>
      </a:accent3>
      <a:accent4>
        <a:srgbClr val="F97316"/>
      </a:accent4>
      <a:accent5>
        <a:srgbClr val="F59E0B"/>
      </a:accent5>
      <a:accent6>
        <a:srgbClr val="DC2626"/>
      </a:accent6>
      <a:hlink>
        <a:srgbClr val="9CD246"/>
      </a:hlink>
      <a:folHlink>
        <a:srgbClr val="7BA832"/>
      </a:folHlink>
    </a:clrScheme>
    <a:fontScheme name="Splitbo">
      <a:majorFont>
        <a:latin typeface="Sora"/>
      </a:majorFont>
      <a:minorFont>
        <a:latin typeface="Inter"/>
      </a:minorFont>
    </a:fontScheme>
    <a:fmtScheme name="Splitb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Splitbo gen_ppt.py</Application>
</Properties>
</file>

<file path=docProps/core.xml><?xml version="1.0" encoding="utf-8"?>
<cp:coreProperties xmlns:cp="http://schemas.openxmlformats.org/package/2006/metadata/core-properties" xmlns:dc="http://purl.org/dc/elements/1.1/">
  <dc:title>Splitbo Brand Guidelines</dc:title>
  <dc:creator>Vikas Chauhan</dc:creator>
</cp:coreProperties>
</file>